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61" r:id="rId7"/>
    <p:sldId id="265" r:id="rId14"/>
    <p:sldId id="260" r:id="rId6"/>
    <p:sldId id="258" r:id="rId4"/>
    <p:sldId id="268" r:id="rId17"/>
    <p:sldId id="269" r:id="rId18"/>
    <p:sldId id="266" r:id="rId15"/>
    <p:sldId id="267" r:id="rId16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BB6"/>
    <a:srgbClr val="6ABC6C"/>
    <a:srgbClr val="D729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95"/>
    <p:restoredTop sz="95574"/>
  </p:normalViewPr>
  <p:slideViewPr>
    <p:cSldViewPr snapToGrid="0">
      <p:cViewPr varScale="1">
        <p:scale>
          <a:sx n="101" d="100"/>
          <a:sy n="101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4.xml"/><Relationship Id="rId7" Type="http://schemas.openxmlformats.org/officeDocument/2006/relationships/slide" Target="slides/slide2.xml"/><Relationship Id="rId8" Type="http://schemas.openxmlformats.org/officeDocument/2006/relationships/slide" Target="slides/slide10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3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6.xml"/><Relationship Id="rId1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91F33-CBB4-A247-B7D0-A64F2A07719C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9E76A-B312-9048-804C-9F3C0A3437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64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eaLnBrk="0" latinLnBrk="0" hangingPunct="0">
              <a:lnSpc>
                <a:spcPct val="130000"/>
              </a:lnSpc>
              <a:spcAft>
                <a:spcPts val="600"/>
              </a:spcAft>
            </a:pPr>
            <a:endParaRPr lang="en-US" altLang="ko-KR" sz="120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en-US" altLang="ko-KR" sz="1200" b="0" i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altLang="ko-KR" sz="1200" b="0" i="0" baseline="-2500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는 중거리 주기성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(2</a:t>
            </a:r>
            <a:r>
              <a:rPr lang="el-GR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π/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q)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의 역수 → 망의 위상이 지배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— FSDP </a:t>
            </a:r>
            <a:r>
              <a:rPr lang="ko-KR" altLang="en-US" sz="1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위치는 불변</a:t>
            </a:r>
            <a:endParaRPr lang="ko-KR" altLang="en-US" sz="1200" b="0" i="0" dirty="0">
              <a:solidFill>
                <a:srgbClr val="262626"/>
              </a:solidFill>
              <a:latin typeface="Arial"/>
              <a:ea typeface="맑은 고딕"/>
              <a:cs typeface="Arial"/>
            </a:endParaRPr>
          </a:p>
          <a:p>
            <a:pPr marL="237744" indent="-237744" algn="l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실공간과 독립된 경로에서 같은 결론</a:t>
            </a:r>
            <a:r>
              <a:rPr lang="en-US" altLang="ko-KR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 </a:t>
            </a:r>
            <a:r>
              <a:rPr lang="ko-KR" altLang="en-US" sz="12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위상은 불변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3040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MSD </a:t>
            </a:r>
            <a:r>
              <a:rPr kumimoji="1" lang="ko-KR" altLang="en-US" dirty="0"/>
              <a:t>왜 </a:t>
            </a:r>
            <a:r>
              <a:rPr kumimoji="1" lang="ko-KR" altLang="en-US" dirty="0" err="1"/>
              <a:t>써놓음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ko-KR" altLang="en-US" dirty="0"/>
              <a:t>다 같은 </a:t>
            </a:r>
            <a:r>
              <a:rPr kumimoji="1" lang="ko-KR" altLang="en-US" dirty="0" err="1"/>
              <a:t>불렛으로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섞여있는데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섹션으로</a:t>
            </a:r>
            <a:r>
              <a:rPr kumimoji="1" lang="ko-KR" altLang="en-US" dirty="0"/>
              <a:t> 나눠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br>
              <a:rPr kumimoji="1" lang="en-US" altLang="ko-KR" dirty="0"/>
            </a:b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279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Q.</a:t>
            </a:r>
            <a:r>
              <a:rPr kumimoji="1" lang="ko-KR" altLang="en-US" dirty="0"/>
              <a:t> </a:t>
            </a:r>
            <a:r>
              <a:rPr kumimoji="1" lang="en-US" altLang="ko-KR" dirty="0"/>
              <a:t>FSDP </a:t>
            </a:r>
            <a:r>
              <a:rPr kumimoji="1" lang="ko-KR" altLang="en-US" dirty="0"/>
              <a:t>추출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최댓값은 잡음에 상향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ko-KR" altLang="en-US" sz="1200" b="0" dirty="0" err="1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무슨말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?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: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 길 때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‘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최댓값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’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이라고 재면 노이즈에 오염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편향 생기는 문제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노이즈가 클 수록 더 큰 편향</a:t>
            </a:r>
            <a:r>
              <a:rPr lang="en-US" altLang="ko-KR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.</a:t>
            </a:r>
            <a:r>
              <a:rPr lang="ko-KR" altLang="en-US" sz="12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9E76A-B312-9048-804C-9F3C0A3437A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1421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2026. 8. 27.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2026. 8. 27.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10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Universal MLIP</a:t>
            </a: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의 a-SiO</a:t>
            </a: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₂ </a:t>
            </a: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적용</a:t>
            </a:r>
          </a:p>
          <a:p>
            <a:pPr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7net 자체 melt-quench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 eaLnBrk="0" latinLnBrk="0" hangingPunct="0">
              <a:lnSpc>
                <a:spcPct val="13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2400" b="0" i="0" dirty="0">
                <a:solidFill>
                  <a:srgbClr val="262626"/>
                </a:solidFill>
                <a:ea typeface="맑은 고딕"/>
              </a:rPr>
              <a:t>BKS · 7net-Nano-4.5 · AIMD(PBE) · 실험 비교</a:t>
            </a:r>
          </a:p>
          <a:p>
            <a:pPr marL="0" indent="0" eaLnBrk="0" latinLnBrk="0" hangingPunct="0">
              <a:lnSpc>
                <a:spcPct val="13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2400" b="1" i="0" dirty="0">
                <a:solidFill>
                  <a:srgbClr val="262626"/>
                </a:solidFill>
                <a:ea typeface="맑은 고딕"/>
              </a:rPr>
              <a:t>Part 2</a:t>
            </a:r>
          </a:p>
          <a:p>
            <a:pPr marL="0" indent="0" eaLnBrk="0" latinLnBrk="0" hangingPunct="0">
              <a:lnSpc>
                <a:spcPct val="13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262626"/>
                </a:solidFill>
                <a:ea typeface="맑은 고딕"/>
              </a:rPr>
              <a:t>2026. 08. 27</a:t>
            </a:r>
          </a:p>
          <a:p>
            <a:pPr marL="0" indent="0" eaLnBrk="0" latinLnBrk="0" hangingPunct="0">
              <a:lnSpc>
                <a:spcPct val="13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2000" b="0" i="0" dirty="0">
                <a:solidFill>
                  <a:srgbClr val="262626"/>
                </a:solidFill>
                <a:ea typeface="맑은 고딕"/>
              </a:rPr>
              <a:t>이동현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686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Part 1 이 남긴 질문 — 위상은 정말 못 고치나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0"/>
            <a:ext cx="5159564" cy="527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Part 1 의 결론 ]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7net = BKS 가 만든 망을 물려받아 이완만 수행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국소는 고침</a:t>
            </a: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· </a:t>
            </a: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위상은 못 고침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근거 2 가지 ]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① ring 분포가 BKS 와 </a:t>
            </a: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동일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② FSDP 위치 1.593 → 1.590 Å⁻¹ </a:t>
            </a: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(변화 없음)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  실험 1.492 대비 둘 다 +6.7 %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eaLnBrk="0" latinLnBrk="0" hangingPunct="0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Part 1 = SiO2_MLIP_SevenNet_pilot_v10.  FSDP = first sharp diffraction peak, 유리 중거리 질서의 표준 지표.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428784" y="1047961"/>
            <a:ext cx="5159564" cy="3107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그래서 Part 2 의 질문 ]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이 </a:t>
            </a:r>
            <a:r>
              <a:rPr lang="en-US" altLang="ko-KR" sz="1600" b="1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스스로 망을 만들면</a:t>
            </a: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
위상이 바뀌는가?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답하는 방법 ]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자체 melt-quench 수행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= Part 1 의 Next step 항목 그대로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★ 냉각률을 맞춘 BKS 통제런을 짝지어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포텐셜 효과 / 위상 효과를 분리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 설계 — 통제군이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0"/>
            <a:ext cx="5159564" cy="527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[ 7net 자체 melt-quench ]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BKS 4000 K 액체 → 재평형(MSD gate)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</a:t>
            </a: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2×10¹³ K/s</a:t>
            </a: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급랭 → 300 K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셀 2,160원자 · ρ = 2.20 g/cm³ 고정 NVT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셀·밀도를 고정한 이유 ]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ring · S(q) · 밀도가 모두 셀 크기에 민감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바꾸면 Part 1 결과와 비교 불가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비용: 7net 본런 </a:t>
            </a:r>
            <a:r>
              <a:rPr lang="en-US" altLang="ko-KR" sz="1600" b="1" dirty="0">
                <a:solidFill>
                  <a:srgbClr val="D7292A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122 시간</a:t>
            </a: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(시드 1개가 한계의 근원)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eaLnBrk="0" latinLnBrk="0" hangingPunct="0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MSD gate = 4000 K 액체가 확산 영역에 도달했는지 확인 후 급랭 시작.  급랭 속도는 100 K / 5 ps 단위로 단계 냉각.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428784" y="1047961"/>
            <a:ext cx="5159564" cy="3107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통제군 — 이게 설계의 핵심 ]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① 냉각률 매칭 BKS 런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같은 2×10¹³ K/s · 독립 시드 3개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→ 포텐셜 효과 vs 위상 효과 분리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② 냉각률 스윕 BKS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1×10¹² ~ 1×10¹⁴ K/s (7 rates)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→ 관측된 차이가 냉각률 탓인지 판정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★ 통제군 없이는 어떤 차이도 해석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유리전이 — 7net 의 액체는 다른 액체다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410" y="1401723"/>
            <a:ext cx="6500342" cy="47182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kinetic-arrest T</a:t>
            </a:r>
            <a:r>
              <a:rPr lang="en-US" sz="12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g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: 7net </a:t>
            </a:r>
            <a:r>
              <a:rPr lang="en-US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2000 K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vs BKS 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2800 K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 → 800 K 낮음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냉각률 매칭 · BKS 3시드 중앙값 (실측 산포 2500~3000 K)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환산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: BKS T</a:t>
            </a:r>
            <a:r>
              <a:rPr lang="en-US" sz="12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g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= 180 ± 40 K / decade → 800 K = 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10⁴·⁴ 배 느린 냉각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선형 외삽 · 느린 쪽에서 완만해짐 → 하한값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배열 에너지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: 7net </a:t>
            </a:r>
            <a:r>
              <a:rPr lang="en-US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249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vs BKS 71–106 meV/atom (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2.4–3.5 배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[ 검증 ] 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유리가지 dE/dT 가 11개 런 전부 1.5k</a:t>
            </a:r>
            <a:r>
              <a:rPr lang="en-US" sz="12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B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의 1.04배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→ Tg 아래선 두 포텐셜이 구별 안 됨 = 순수 진동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→ 그 기준선 위로 벌어진 양만이 망 재배열의 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arrest 임계값 ΔMSD = 0.10 Å²/100 K · K = 5 연속.  2×10¹⁴ K/s 는 동적범위 부족으로 제외.  decade = 로그축 10배.</a:t>
            </a:r>
          </a:p>
        </p:txBody>
      </p:sp>
      <p:pic>
        <p:nvPicPr>
          <p:cNvPr id="7" name="Picture 6" descr="fig_tg_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43000"/>
            <a:ext cx="5166360" cy="1722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2901696"/>
            <a:ext cx="5166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sz="1000" i="1">
                <a:solidFill>
                  <a:srgbClr val="595959"/>
                </a:solidFill>
                <a:latin typeface="Arial"/>
                <a:ea typeface="맑은 고딕"/>
              </a:rPr>
              <a:t>(a) 배열 에너지  (b) MSD 기반 arrest  (c) 냉각률 의존성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4828032"/>
            <a:ext cx="109270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600"/>
              </a:spcAft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3-ring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1.80 % → </a:t>
            </a:r>
            <a:r>
              <a:rPr lang="en-US" altLang="ko-KR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7.17 %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(4배, p = 0.038)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   5-ring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−6.87 %p (</a:t>
            </a:r>
            <a:r>
              <a:rPr lang="en-US" altLang="ko-KR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p = 0.021, 가장 유의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algn="l" eaLnBrk="0" latinLnBrk="0" hangingPunct="0">
              <a:lnSpc>
                <a:spcPct val="130000"/>
              </a:lnSpc>
              <a:spcAft>
                <a:spcPts val="600"/>
              </a:spcAft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냉각률 효과 &lt; 실현간 산포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5e12 0.4 sd · 5e13 0.9 sd → 냉각률 아티팩트 아님 (3시드 실측)</a:t>
            </a:r>
          </a:p>
          <a:p>
            <a:pPr algn="l" eaLnBrk="0" latinLnBrk="0" hangingPunct="0">
              <a:lnSpc>
                <a:spcPct val="130000"/>
              </a:lnSpc>
              <a:spcAft>
                <a:spcPts val="600"/>
              </a:spcAft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⚠ 3-ring 은 원인이 아니라 </a:t>
            </a:r>
            <a:r>
              <a:rPr lang="en-US" altLang="ko-KR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증상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각 이동 −10.48° 중 3-ring 몫은 </a:t>
            </a: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11 %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, 89 %는 전역적 좁아짐</a:t>
            </a:r>
          </a:p>
          <a:p>
            <a:pPr algn="l" eaLnBrk="0" latinLnBrk="0" hangingPunct="0">
              <a:lnSpc>
                <a:spcPct val="130000"/>
              </a:lnSpc>
              <a:spcAft>
                <a:spcPts val="600"/>
              </a:spcAft>
            </a:pPr>
            <a:r>
              <a:rPr lang="en-US" altLang="ko-KR" sz="1600" b="1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각 사다리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: BKS 151.9° → 7net(BKS망) 145.2° → </a:t>
            </a:r>
            <a:r>
              <a:rPr lang="en-US" altLang="ko-KR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7net(자기망) 140.7°</a:t>
            </a:r>
            <a:r>
              <a:rPr lang="en-US" altLang="ko-KR" sz="160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→ AIMD 138.7°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망 위상 — 고리 분포와 결합각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 = 양측 t 검정(2 dof).  표본 3개라 sd 자체가 불확실 → σ 대신 p 를 인용.  7net 은 시드 1개이므로 산포 성분은 전부 BKS 에서 추정.</a:t>
            </a:r>
          </a:p>
        </p:txBody>
      </p:sp>
      <p:pic>
        <p:nvPicPr>
          <p:cNvPr id="7" name="Picture 6" descr="fig_rings_s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060704"/>
            <a:ext cx="4754880" cy="34111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4508390"/>
            <a:ext cx="4754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sz="1000" i="1">
                <a:solidFill>
                  <a:srgbClr val="595959"/>
                </a:solidFill>
                <a:latin typeface="Arial"/>
                <a:ea typeface="맑은 고딕"/>
              </a:rPr>
              <a:t>Ring 분포 — 오차막대는 매칭 냉각률 3시드의 실측 산포</a:t>
            </a:r>
          </a:p>
        </p:txBody>
      </p:sp>
      <p:pic>
        <p:nvPicPr>
          <p:cNvPr id="9" name="Picture 8" descr="fig_angle_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060704"/>
            <a:ext cx="4754880" cy="3434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4531360"/>
            <a:ext cx="47548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sz="1000" i="1">
                <a:solidFill>
                  <a:srgbClr val="595959"/>
                </a:solidFill>
                <a:latin typeface="Arial"/>
                <a:ea typeface="맑은 고딕"/>
              </a:rPr>
              <a:t>Si–O–Si 각 — 비3원환 산소도 함께 내려간다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S(q) — 위치는 망이 98 % 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410" y="1401723"/>
            <a:ext cx="6500342" cy="47182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q</a:t>
            </a:r>
            <a:r>
              <a:rPr lang="en-US" sz="12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FSDP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: 1.590 (+6.6 %) → </a:t>
            </a:r>
            <a:r>
              <a:rPr lang="en-US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1.470 ± 0.060 (−1.5 %)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d = 2π/q : 3.95 → 4.27 Å   (실험 4.21 Å)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냉각률 통제런은 1.588 로 그대로 → 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냉각률 아님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[ ρ = 2.2000 통제 → 분해 가능 ]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위치 : [망] </a:t>
            </a:r>
            <a:r>
              <a:rPr lang="en-US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98 %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/ [포텐셜] 2 %   → 48 배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진폭 : [망] 70 % / [포텐셜] 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30 %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  → 국소도 기여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⚠ 진폭은 무너졌다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: 1.360 → 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1.123 (−17.2 %)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Si–O–Si 각 σ 13.55 → 15.45 로 넓어진 것과 정합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→ "위치가 맞았다"만 떼어 인용 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[4] A. Zeidler et al., PRL 113, 135501 (2014), digitized.   q_FSDP = 가우시안+선형배경 피팅값.  자기망은 피크가 평평해 불확도 3~4배 — ±0.06 병기.</a:t>
            </a:r>
          </a:p>
        </p:txBody>
      </p:sp>
      <p:pic>
        <p:nvPicPr>
          <p:cNvPr id="7" name="Picture 6" descr="fig_sq_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5440680" cy="24262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383065"/>
            <a:ext cx="5440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sz="1000" i="1">
                <a:solidFill>
                  <a:srgbClr val="595959"/>
                </a:solidFill>
                <a:latin typeface="Arial"/>
                <a:ea typeface="맑은 고딕"/>
              </a:rPr>
              <a:t>중성자 S(q) — 색 = 포텐셜+망 조합. (a) 전 구간 (b) FSDP 확대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 · 부피탄성률 — Part 1 예측의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410" y="1401723"/>
            <a:ext cx="6500342" cy="47182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[ Part 1 의 예측 ]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"K₀ 오차의 출처는 포텐셜이 아니라 구조 생성 프로토콜"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K @ ρ=2.20 : 43.9 → </a:t>
            </a:r>
            <a:r>
              <a:rPr lang="en-US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37.7 GPa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  (+18.7 % → </a:t>
            </a:r>
            <a:r>
              <a:rPr lang="en-US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+2.0 %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)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→ 예측 적중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★ 단 후반부는 틀렸다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"현실적인 냉각속도까지 내려가야" 한다고 했으나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S4 는 4배 빠른 냉각인데도 K 가 실험에 붙었다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→ 냉각속도가 아니라 "누가 망을 만들었나"가 지배</a:t>
            </a:r>
          </a:p>
          <a:p>
            <a:pPr marL="237744" indent="-237744"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400"/>
              </a:spcAft>
              <a:buFont typeface="Wingdings" charset="2"/>
              <a:buChar char="ü"/>
            </a:pPr>
            <a:r>
              <a:rPr lang="en-US" sz="1600" b="1" i="0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⚠ 밀도는 반대로 나빠졌다</a:t>
            </a:r>
            <a:r>
              <a:rPr lang="en-US" sz="1600" b="0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 : ρ₀ +0.84 % → </a:t>
            </a:r>
            <a:r>
              <a:rPr lang="en-US" sz="1600" b="1" i="0" dirty="0">
                <a:solidFill>
                  <a:srgbClr val="267BB6"/>
                </a:solidFill>
                <a:latin typeface="Arial"/>
                <a:ea typeface="맑은 고딕"/>
                <a:cs typeface="Arial"/>
              </a:rPr>
              <a:t>−1.84 %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50" b="0" i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두 곡선의 낙차(6.2 GPa)를 '위상 효과'로 인용하지 말 것 — ev220 스캔은 7점 중 6점이 minimize 미수렴이고 S4 자기망은 전점 수렴이라 같은 자가 아니다.</a:t>
            </a:r>
          </a:p>
        </p:txBody>
      </p:sp>
      <p:pic>
        <p:nvPicPr>
          <p:cNvPr id="7" name="Picture 6" descr="fig_bulkmo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417320"/>
            <a:ext cx="4892040" cy="3913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5367528"/>
            <a:ext cx="489204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eaLnBrk="0" latinLnBrk="0" hangingPunct="0">
              <a:lnSpc>
                <a:spcPct val="130000"/>
              </a:lnSpc>
            </a:pPr>
            <a:r>
              <a:rPr sz="1000" i="1">
                <a:solidFill>
                  <a:srgbClr val="595959"/>
                </a:solidFill>
                <a:latin typeface="Arial"/>
                <a:ea typeface="맑은 고딕"/>
              </a:rPr>
              <a:t>K(ρ) — 같은 밀도에서 비교. 별 = 실험 fused silica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종합 — 한쪽을 고치면 다른 쪽이 상한다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0"/>
            <a:ext cx="5159564" cy="527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독립된 두 경로, 같은 패턴 ]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탄성 (E–V)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  좋아짐 : K@ρ_exp +18.7 → </a:t>
            </a:r>
            <a:r>
              <a:rPr lang="en-US" altLang="ko-KR" sz="1600" b="1" dirty="0">
                <a:solidFill>
                  <a:srgbClr val="D7292A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+2.0 %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  나빠짐 : ρ₀ +0.84 → </a:t>
            </a:r>
            <a:r>
              <a:rPr lang="en-US" altLang="ko-KR" sz="1600" b="1" dirty="0">
                <a:solidFill>
                  <a:srgbClr val="267BB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−1.84 %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산란 (S(q))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  좋아짐 : q_FSDP +6.6 → </a:t>
            </a:r>
            <a:r>
              <a:rPr lang="en-US" altLang="ko-KR" sz="1600" b="1" dirty="0">
                <a:solidFill>
                  <a:srgbClr val="D7292A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−1.5 %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  나빠짐 : S(q_FSDP) +0.2 → </a:t>
            </a:r>
            <a:r>
              <a:rPr lang="en-US" altLang="ko-KR" sz="1600" b="1" dirty="0">
                <a:solidFill>
                  <a:srgbClr val="267BB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−17.2 %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서로 독립인 두 측정에서 같은 구조 → 우연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eaLnBrk="0" latinLnBrk="0" hangingPunct="0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Part 1 의 결론 "국소는 고치고 위상은 못 고친다"는 BKS 위상을 물려받은 조건에서만 참인 문장이었다.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428784" y="1047961"/>
            <a:ext cx="5159564" cy="3107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여섯 지표가 같은 방향 ]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3-ring 4배↑ · 배열에너지 2.4–3.5배↑ · Tg 800 K↓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평균 Si–O–Si −10.5° · K 6.2 GPa↓ · ρ₀ 2.7 %↓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7net 이 스스로 만든 망은</a:t>
            </a:r>
            <a:r>
              <a:rPr lang="en-US" altLang="ko-KR" sz="1600" b="1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
   더 변형되고 · 더 성기고 · 더 무른 망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한 줄로 ]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포텐셜로는 위상을 못 고치고,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망을 새로 만들면 위상은 고쳐지되 다른 쪽이 상한다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⚠ 정합성이지 </a:t>
            </a:r>
            <a:r>
              <a:rPr lang="en-US" altLang="ko-KR" sz="1600" b="1" dirty="0">
                <a:solidFill>
                  <a:srgbClr val="D7292A"/>
                </a:solidFill>
                <a:latin typeface="Arial"/>
                <a:ea typeface="맑은 고딕"/>
                <a:cs typeface="Arial"/>
              </a:rPr>
              <a:t>인과 사슬의 분리 검증은 아니다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Limitations &amp;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652" y="1047960"/>
            <a:ext cx="5159564" cy="52766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[ Limitations ]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7net 계열은 전부 </a:t>
            </a:r>
            <a:r>
              <a:rPr lang="en-US" altLang="ko-KR" sz="1600" b="1" dirty="0">
                <a:solidFill>
                  <a:srgbClr val="D7292A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시드 1개</a:t>
            </a: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(122 h / 런)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모든 산포 성분은 BKS 에서 추정한 값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ring 분포에는 실험 계열이 없음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"실물 유리와 다르다"의 근거로 쓸 수 없음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  (실험과 직접 대조되는 것은 S(q) 뿐)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E–V 의 [냉각률]/[위상] 분해는 폐기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→ 스캔마다 minimize 수렴도가 달라 같은 자가 아님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  밀도가 통제된 S(q) 쪽만 분해 성립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AIMD 참조 1편 (120원자 · 5 ps quench)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6459"/>
            <a:ext cx="92354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eaLnBrk="0" latinLnBrk="0" hangingPunct="0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L. C. Erhard et al., npj Comput. Mater. 8, 90 (2022).   급랭 속도 5×10¹² ~ 2×10¹³ K/s 는 실험 대비 ~10¹³배 빠르다.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429F-2B87-5090-4FF0-E5EB1D2CBB83}"/>
              </a:ext>
            </a:extLst>
          </p:cNvPr>
          <p:cNvSpPr txBox="1"/>
          <p:nvPr/>
        </p:nvSpPr>
        <p:spPr>
          <a:xfrm>
            <a:off x="6428784" y="1047961"/>
            <a:ext cx="5159564" cy="3107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 Next step ]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반복 시드</a:t>
            </a: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산포를 자체 측정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현 CPU 기준 1런 122시간 → GPU 필요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어닐링</a:t>
            </a: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급랭 이력 제거 후 재측정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열팽창계수 α</a:t>
            </a: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결정(α-quartz) 먼저 검증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1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GPU 벤치</a:t>
            </a: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— 계가 클수록 유리</a:t>
            </a:r>
          </a:p>
          <a:p>
            <a:pPr algn="l" eaLnBrk="0" latinLnBrk="0" hangingPunct="0">
              <a:lnSpc>
                <a:spcPct val="130000"/>
              </a:lnSpc>
              <a:spcBef>
                <a:spcPts val="1100"/>
              </a:spcBef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★ 우선순위는 7net 반복 시드</a:t>
            </a:r>
          </a:p>
          <a:p>
            <a:pPr algn="l" eaLnBrk="0" latinLnBrk="0" hangingPunct="0">
              <a:lnSpc>
                <a:spcPct val="130000"/>
              </a:lnSpc>
              <a:spcAft>
                <a:spcPts val="1300"/>
              </a:spcAft>
            </a:pPr>
            <a:r>
              <a:rPr lang="en-US" altLang="ko-KR" sz="1600" b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   지금 모든 유의성 판정이 BKS 산포에 의존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S4 계산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094181"/>
              </p:ext>
            </p:extLst>
          </p:nvPr>
        </p:nvGraphicFramePr>
        <p:xfrm>
          <a:off x="445179" y="1078992"/>
          <a:ext cx="11234889" cy="52967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0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4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(Si 720 / O 1,440), ρ = 2.20 g/cm³ 고정 NVT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출발 구조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 4000 K 액체 (200 ps 용융) → MSD gate 로 확산 확인 후 급랭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melt-quench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2×10¹³ K/s (100 K / 5 ps 단계 냉각) → 300 K, wall time 122 h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dirty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통제런</a:t>
                      </a:r>
                      <a:endParaRPr sz="1200" b="1" dirty="0">
                        <a:solidFill>
                          <a:srgbClr val="000000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매칭 2×10¹³ K/s 독립 시드 3개 (90210/90211/90212) + 스윕 1e12~1e14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증류, PBE(+U) 계열), cutoff 4.5 Å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Tg 판정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kinetic arrest: ΔMSD/100 K &lt; 0.10 Å², K = 5 연속.  동적범위 게이트 적용</a:t>
                      </a:r>
                      <a:br>
                        <a:rPr 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</a:b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Ring 통계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King 기준, distinct fraction.  RCUT 1.85~2.15 Å 스윕에서 순위 불변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Si–O–Si 각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prod_*.data 300 K 스냅샷.  트라젝토리 평균과 0.15° 이내 일치 확인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0 K, 셀 고정·원자만 이완.  pilot 로 P=0 괄호 → V₀ 대칭 격자 7점</a:t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판정 = 'linesearch alpha is zero' + 최종 힘 2-norm 0.02~0.05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 셀 정합 q 벡터 직접 합산 (절단·창 없음), 껍질폭 0.10, stride 5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 + 선형 배경 피팅.  최댓값은 위로 편향되어 사용 금지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 + SevenNet, Python 3 / numpy / scipy</a:t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6c12t, RAM 15 GB, GPU 없음</a:t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lang="en-US" altLang="ko-KR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lang="ko-KR" altLang="en-US"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</a:p>
                  </a:txBody>
                  <a:tcPr marL="73152" marR="73152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1752"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marL="0" indent="0" algn="l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dirty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  <a:endParaRPr sz="1200" b="0" dirty="0">
                        <a:solidFill>
                          <a:srgbClr val="262626"/>
                        </a:solidFill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73152" marR="73152" marT="9144" marB="9144" anchor="ctr">
                    <a:solidFill>
                      <a:srgbClr val="F1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7F2089-DB07-E7D9-8918-3DA7CB9CB9B1}"/>
              </a:ext>
            </a:extLst>
          </p:cNvPr>
          <p:cNvSpPr txBox="1"/>
          <p:nvPr/>
        </p:nvSpPr>
        <p:spPr>
          <a:xfrm>
            <a:off x="405423" y="6540702"/>
            <a:ext cx="6713133" cy="2550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 algn="l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lang="en-US" altLang="ko-KR" sz="1050" b="0" i="0" dirty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[10] B. W. H. van Beest, G. J. Kramer, R. A. van Santen, PRL 64, 1955 (1990).   [1] G. Dechant et al., JPCC 130, 7148 (2026).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1858</Words>
  <Application>Microsoft Macintosh PowerPoint</Application>
  <PresentationFormat>와이드스크린</PresentationFormat>
  <Paragraphs>144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Courier New</vt:lpstr>
      <vt:lpstr>Wingdings</vt:lpstr>
      <vt:lpstr>phy_present_wide_light</vt:lpstr>
      <vt:lpstr>Universal MLIP의 a-SiO₂ 적용 SevenNet-Nano 파일럿 스터디</vt:lpstr>
      <vt:lpstr>실공간 구조 — 결합길이 · 결합각</vt:lpstr>
      <vt:lpstr>Structure factor S(q) 비교와 망 위상 (ρ = 2.20 g/cm³)</vt:lpstr>
      <vt:lpstr>밀도 · 부피탄성률 — 비교 조건의 영향</vt:lpstr>
      <vt:lpstr>계산 비용 — classical MD 대비 ~10³배 (CPU only)</vt:lpstr>
      <vt:lpstr>Limitations &amp; Next step</vt:lpstr>
      <vt:lpstr>Appendix. Computational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229</cp:revision>
  <dcterms:created xsi:type="dcterms:W3CDTF">2026-08-14T09:14:06Z</dcterms:created>
  <dcterms:modified xsi:type="dcterms:W3CDTF">2026-08-26T15:20:03Z</dcterms:modified>
</cp:coreProperties>
</file>
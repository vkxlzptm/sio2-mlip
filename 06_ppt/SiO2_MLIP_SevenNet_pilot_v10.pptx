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BB6"/>
    <a:srgbClr val="6ABC6C"/>
    <a:srgbClr val="D729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95"/>
    <p:restoredTop sz="95574"/>
  </p:normalViewPr>
  <p:slideViewPr>
    <p:cSldViewPr snapToGrid="0">
      <p:cViewPr varScale="1">
        <p:scale>
          <a:sx n="101" d="100"/>
          <a:sy n="10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Si-O </a:t>
            </a:r>
            <a:r>
              <a:rPr lang="ko-KR" altLang="en-US" dirty="0"/>
              <a:t>길이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7net = AIMD </a:t>
            </a:r>
            <a:r>
              <a:rPr lang="ko-KR" altLang="en-US" dirty="0"/>
              <a:t>사실상 일치 </a:t>
            </a:r>
            <a:r>
              <a:rPr lang="en-US" altLang="ko-KR" dirty="0"/>
              <a:t>(resolution </a:t>
            </a:r>
            <a:r>
              <a:rPr lang="ko-KR" altLang="en-US" dirty="0"/>
              <a:t>한계 내에서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! </a:t>
            </a:r>
            <a:r>
              <a:rPr dirty="0"/>
              <a:t>Si–O–Si </a:t>
            </a:r>
            <a:r>
              <a:rPr dirty="0" err="1"/>
              <a:t>차이의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(</a:t>
            </a:r>
            <a:r>
              <a:rPr dirty="0" err="1"/>
              <a:t>구두용</a:t>
            </a:r>
            <a:r>
              <a:rPr dirty="0"/>
              <a:t>, </a:t>
            </a:r>
            <a:r>
              <a:rPr dirty="0" err="1"/>
              <a:t>슬라이드에는</a:t>
            </a:r>
            <a:r>
              <a:rPr dirty="0"/>
              <a:t> </a:t>
            </a:r>
            <a:r>
              <a:rPr dirty="0" err="1"/>
              <a:t>넣지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)</a:t>
            </a:r>
          </a:p>
          <a:p>
            <a:r>
              <a:rPr dirty="0"/>
              <a:t>· AIMD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분포는</a:t>
            </a:r>
            <a:r>
              <a:rPr dirty="0"/>
              <a:t> </a:t>
            </a:r>
            <a:r>
              <a:rPr dirty="0" err="1"/>
              <a:t>양쪽으로</a:t>
            </a:r>
            <a:r>
              <a:rPr dirty="0"/>
              <a:t> </a:t>
            </a:r>
            <a:r>
              <a:rPr dirty="0" err="1"/>
              <a:t>넓다</a:t>
            </a:r>
            <a:r>
              <a:rPr dirty="0"/>
              <a:t> — 4-고리 16.3 % vs </a:t>
            </a:r>
            <a:r>
              <a:rPr dirty="0" err="1"/>
              <a:t>우리</a:t>
            </a:r>
            <a:r>
              <a:rPr dirty="0"/>
              <a:t> 10.2 %, 7-고리 22.8 % vs </a:t>
            </a:r>
            <a:r>
              <a:rPr dirty="0" err="1"/>
              <a:t>우리</a:t>
            </a:r>
            <a:r>
              <a:rPr dirty="0"/>
              <a:t> 18.5 %, </a:t>
            </a:r>
            <a:r>
              <a:rPr dirty="0" err="1"/>
              <a:t>σ</a:t>
            </a:r>
            <a:r>
              <a:rPr dirty="0"/>
              <a:t> 1.14 vs 1.06.</a:t>
            </a:r>
          </a:p>
          <a:p>
            <a:r>
              <a:rPr dirty="0"/>
              <a:t>·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Si–O–</a:t>
            </a:r>
            <a:r>
              <a:rPr dirty="0" err="1"/>
              <a:t>Si를</a:t>
            </a:r>
            <a:r>
              <a:rPr dirty="0"/>
              <a:t> </a:t>
            </a:r>
            <a:r>
              <a:rPr dirty="0" err="1"/>
              <a:t>기하학적으로</a:t>
            </a:r>
            <a:r>
              <a:rPr dirty="0"/>
              <a:t> </a:t>
            </a:r>
            <a:r>
              <a:rPr dirty="0" err="1"/>
              <a:t>좁히지만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</a:t>
            </a:r>
            <a:r>
              <a:rPr dirty="0" err="1"/>
              <a:t>포화하므로</a:t>
            </a:r>
            <a:r>
              <a:rPr dirty="0"/>
              <a:t>, </a:t>
            </a:r>
            <a:r>
              <a:rPr dirty="0" err="1"/>
              <a:t>순효과는</a:t>
            </a:r>
            <a:r>
              <a:rPr dirty="0"/>
              <a:t> </a:t>
            </a:r>
            <a:r>
              <a:rPr dirty="0" err="1"/>
              <a:t>평균각을</a:t>
            </a:r>
            <a:r>
              <a:rPr dirty="0"/>
              <a:t> </a:t>
            </a:r>
            <a:r>
              <a:rPr dirty="0" err="1"/>
              <a:t>낮추는</a:t>
            </a:r>
            <a:r>
              <a:rPr dirty="0"/>
              <a:t> </a:t>
            </a:r>
            <a:r>
              <a:rPr dirty="0" err="1"/>
              <a:t>쪽</a:t>
            </a:r>
            <a:r>
              <a:rPr dirty="0"/>
              <a:t>(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5.73 vs 5.79).</a:t>
            </a:r>
          </a:p>
          <a:p>
            <a:r>
              <a:rPr dirty="0"/>
              <a:t>·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통계만으로</a:t>
            </a:r>
            <a:r>
              <a:rPr dirty="0"/>
              <a:t> 6.5°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설명하지는</a:t>
            </a:r>
            <a:r>
              <a:rPr dirty="0"/>
              <a:t> </a:t>
            </a:r>
            <a:r>
              <a:rPr dirty="0" err="1"/>
              <a:t>못한다</a:t>
            </a:r>
            <a:r>
              <a:rPr dirty="0"/>
              <a:t>.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구조는</a:t>
            </a:r>
            <a:r>
              <a:rPr dirty="0"/>
              <a:t> BKS </a:t>
            </a:r>
            <a:r>
              <a:rPr dirty="0" err="1"/>
              <a:t>위상</a:t>
            </a:r>
            <a:r>
              <a:rPr dirty="0"/>
              <a:t> + 7net </a:t>
            </a:r>
            <a:r>
              <a:rPr dirty="0" err="1"/>
              <a:t>국소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, </a:t>
            </a:r>
            <a:r>
              <a:rPr dirty="0" err="1"/>
              <a:t>참조는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 AIMD </a:t>
            </a:r>
            <a:r>
              <a:rPr dirty="0" err="1"/>
              <a:t>위상</a:t>
            </a:r>
            <a:r>
              <a:rPr dirty="0"/>
              <a:t> + PBE — </a:t>
            </a:r>
            <a:r>
              <a:rPr dirty="0" err="1"/>
              <a:t>위상과</a:t>
            </a:r>
            <a:r>
              <a:rPr dirty="0"/>
              <a:t> </a:t>
            </a:r>
            <a:r>
              <a:rPr dirty="0" err="1"/>
              <a:t>범함수가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다르다</a:t>
            </a:r>
            <a:r>
              <a:rPr dirty="0"/>
              <a:t>.</a:t>
            </a:r>
          </a:p>
          <a:p>
            <a:r>
              <a:rPr dirty="0"/>
              <a:t>· </a:t>
            </a:r>
            <a:r>
              <a:rPr dirty="0" err="1"/>
              <a:t>상세는</a:t>
            </a:r>
            <a:r>
              <a:rPr dirty="0"/>
              <a:t> </a:t>
            </a:r>
            <a:r>
              <a:rPr dirty="0" err="1"/>
              <a:t>RESULTS.md</a:t>
            </a:r>
            <a:r>
              <a:rPr dirty="0"/>
              <a:t> §5.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eaLnBrk="0" latinLnBrk="0" hangingPunct="0">
              <a:lnSpc>
                <a:spcPct val="130000"/>
              </a:lnSpc>
              <a:spcAft>
                <a:spcPts val="600"/>
              </a:spcAft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2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altLang="ko-KR" sz="12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중거리 주기성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</a:t>
            </a:r>
            <a:r>
              <a:rPr lang="el-GR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q)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역수 → 망의 위상이 지배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— FSDP 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 불변</a:t>
            </a:r>
            <a:endParaRPr lang="ko-KR" altLang="en-US" sz="12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실공간과 독립된 경로에서 같은 결론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 불변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04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6845-3861-8292-5A25-1674A44F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10173E-CF04-316A-00A2-487F2C572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421F9-C5FE-A580-BB1D-799EB6EA9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1D54C-B846-BF3C-E7B3-F13E315F5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8334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MSD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써놓음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 같은 </a:t>
            </a:r>
            <a:r>
              <a:rPr kumimoji="1" lang="ko-KR" altLang="en-US" dirty="0" err="1"/>
              <a:t>불렛으로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섞여있는데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섹션으로</a:t>
            </a:r>
            <a:r>
              <a:rPr kumimoji="1" lang="ko-KR" altLang="en-US" dirty="0"/>
              <a:t> 나눠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FSDP </a:t>
            </a:r>
            <a:r>
              <a:rPr kumimoji="1" lang="ko-KR" altLang="en-US" dirty="0"/>
              <a:t>추출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최댓값은 잡음에 상향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무슨말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?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 길 때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이라고 재면 노이즈에 오염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편향 생기는 문제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노이즈가 클 수록 더 큰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42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2026. 8. 18.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2026. 8. 18.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altLang="ko-KR" sz="2600" dirty="0">
                <a:ea typeface="맑은 고딕"/>
              </a:rPr>
              <a:t>8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결합길이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결합각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5108" y="4168688"/>
            <a:ext cx="5368399" cy="227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Length ]</a:t>
            </a: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7net-Nano-4.5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7net-Omni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증류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PBE(+U)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PBE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underbinding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경향 상속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됨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Si–O (1.635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실험 1.61 Å 대비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+1.6%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AIMD (1.630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사실상 일치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MLIP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정확도 상한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범함수</a:t>
            </a:r>
            <a:endParaRPr sz="160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69776"/>
              </p:ext>
            </p:extLst>
          </p:nvPr>
        </p:nvGraphicFramePr>
        <p:xfrm>
          <a:off x="431945" y="1256047"/>
          <a:ext cx="5100175" cy="205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95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60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5300" y="3321330"/>
            <a:ext cx="5006945" cy="748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length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g(r)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1st peak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maximum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위치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(bin 0.01 </a:t>
            </a:r>
            <a:r>
              <a:rPr lang="en-US" altLang="ko-KR" sz="11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).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sz="110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lang="ko-KR" alt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은</a:t>
            </a: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120원자 ·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L = 12.2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· quench 5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≈ 4×10¹⁴ K</a:t>
            </a:r>
            <a:r>
              <a:rPr lang="en-US" sz="1100" b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/s</a:t>
            </a:r>
            <a:endParaRPr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1745" y="920472"/>
            <a:ext cx="2659777" cy="3894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268" y="6519481"/>
            <a:ext cx="8779267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t="6124"/>
          <a:stretch/>
        </p:blipFill>
        <p:spPr>
          <a:xfrm>
            <a:off x="5877355" y="920472"/>
            <a:ext cx="3271000" cy="4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73C80-9914-EF34-85CD-468D8639E658}"/>
              </a:ext>
            </a:extLst>
          </p:cNvPr>
          <p:cNvSpPr txBox="1"/>
          <p:nvPr/>
        </p:nvSpPr>
        <p:spPr>
          <a:xfrm>
            <a:off x="5829242" y="4924232"/>
            <a:ext cx="6195118" cy="1566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eaLnBrk="0" latinLnBrk="0" hangingPunct="0">
              <a:lnSpc>
                <a:spcPct val="150000"/>
              </a:lnSpc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Angle ]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Si–O–Si: 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151.9°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145.1°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</a:t>
            </a:r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실험 밴드 </a:t>
            </a:r>
            <a:r>
              <a:rPr lang="en-US" altLang="ko-KR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140–150°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내부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6ABC6C"/>
                </a:solidFill>
                <a:latin typeface="Arial"/>
                <a:ea typeface="맑은 고딕"/>
                <a:cs typeface="Arial"/>
              </a:rPr>
              <a:t>AIMD 138.7°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밴드 아래 →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값을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목표로 두지 않음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조건 상이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(100배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급랭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48ABE-298C-D2D3-3199-F0B45145765F}"/>
              </a:ext>
            </a:extLst>
          </p:cNvPr>
          <p:cNvSpPr txBox="1"/>
          <p:nvPr/>
        </p:nvSpPr>
        <p:spPr>
          <a:xfrm>
            <a:off x="6475322" y="4753812"/>
            <a:ext cx="51743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Partial Distribution Function	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Angle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9963" y="3902006"/>
            <a:ext cx="10255251" cy="2591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 7net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변화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endParaRPr lang="en-US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1.593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1.590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간 실질적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1.49 Å⁻¹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+6.7%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높이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1.462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1.360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+7.8% → 7net +0.2%</a:t>
            </a: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특성 길이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 = 2</a:t>
            </a:r>
            <a:r>
              <a:rPr lang="el-G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3.95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4.21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−6%) — Si–O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2.6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가량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거리는 실험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+2%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수준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3.135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3.08)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으로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부호가 반대 → 국소 거리로 설명 불가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5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고리 분포가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와 동일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우측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— 7net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자체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melt-quench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미수행으로 위상을 그대로 물려받음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비교와 망 위상 </a:t>
            </a:r>
            <a:r>
              <a:rPr lang="el-GR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(ρ = 2.20 </a:t>
            </a:r>
            <a:r>
              <a:rPr lang="en-US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g/cm³)</a:t>
            </a:r>
            <a:endParaRPr lang="ko-KR" altLang="en-US"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A8D7196-4685-2A33-9E89-C85E1D941718}"/>
              </a:ext>
            </a:extLst>
          </p:cNvPr>
          <p:cNvGrpSpPr/>
          <p:nvPr/>
        </p:nvGrpSpPr>
        <p:grpSpPr>
          <a:xfrm>
            <a:off x="460745" y="962817"/>
            <a:ext cx="7200061" cy="2839067"/>
            <a:chOff x="1928078" y="1118935"/>
            <a:chExt cx="8385048" cy="3306321"/>
          </a:xfrm>
        </p:grpSpPr>
        <p:pic>
          <p:nvPicPr>
            <p:cNvPr id="4" name="Picture 3" descr="fig_sq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3091" y="1118935"/>
              <a:ext cx="7622771" cy="31588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928078" y="4150936"/>
              <a:ext cx="8385048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중성자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구조인자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S(q) — (a)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, (b) FSDP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확대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실험</a:t>
              </a:r>
              <a:r>
                <a:rPr sz="1100" b="0" i="1" baseline="30000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[4]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결과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(digitized)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와 직접 비교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4422972-168A-E3B1-F583-F8D58F8E2C68}"/>
              </a:ext>
            </a:extLst>
          </p:cNvPr>
          <p:cNvGrpSpPr/>
          <p:nvPr/>
        </p:nvGrpSpPr>
        <p:grpSpPr>
          <a:xfrm>
            <a:off x="7945476" y="1018011"/>
            <a:ext cx="3429124" cy="2804689"/>
            <a:chOff x="7516967" y="977416"/>
            <a:chExt cx="3993490" cy="326628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1EBF2C1-5EC1-E91E-CEDF-669E4A96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516967" y="977416"/>
              <a:ext cx="3909670" cy="305718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95A02-4AE9-BF71-C21D-773F99C6E1CC}"/>
                </a:ext>
              </a:extLst>
            </p:cNvPr>
            <p:cNvSpPr txBox="1"/>
            <p:nvPr/>
          </p:nvSpPr>
          <p:spPr>
            <a:xfrm>
              <a:off x="7807515" y="3969381"/>
              <a:ext cx="370294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R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ing</a:t>
              </a:r>
              <a:r>
                <a:rPr 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statistics</a:t>
              </a:r>
              <a:r>
                <a:rPr lang="ko-KR" alt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—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BKS와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7net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이완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망 위상이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동일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DE206-9819-8249-D732-0BEAB421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9BC1-D33F-7A93-B2FB-D147D8B5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부피탄성률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영향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8BF5BA-674D-F208-ED7C-88C375D08105}"/>
              </a:ext>
            </a:extLst>
          </p:cNvPr>
          <p:cNvGrpSpPr/>
          <p:nvPr/>
        </p:nvGrpSpPr>
        <p:grpSpPr>
          <a:xfrm>
            <a:off x="872924" y="938920"/>
            <a:ext cx="10243394" cy="3064260"/>
            <a:chOff x="457200" y="936182"/>
            <a:chExt cx="11267734" cy="3370686"/>
          </a:xfrm>
        </p:grpSpPr>
        <p:pic>
          <p:nvPicPr>
            <p:cNvPr id="4" name="Picture 3" descr="fig_bulkmod.png">
              <a:extLst>
                <a:ext uri="{FF2B5EF4-FFF2-40B4-BE49-F238E27FC236}">
                  <a16:creationId xmlns:a16="http://schemas.microsoft.com/office/drawing/2014/main" id="{BA4474AA-74C2-8285-1AA1-A3AD76E08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47969" y="936182"/>
              <a:ext cx="3867732" cy="3165556"/>
            </a:xfrm>
            <a:prstGeom prst="rect">
              <a:avLst/>
            </a:prstGeom>
          </p:spPr>
        </p:pic>
        <p:pic>
          <p:nvPicPr>
            <p:cNvPr id="3" name="Picture 2" descr="fig_density.png">
              <a:extLst>
                <a:ext uri="{FF2B5EF4-FFF2-40B4-BE49-F238E27FC236}">
                  <a16:creationId xmlns:a16="http://schemas.microsoft.com/office/drawing/2014/main" id="{D309B851-C32F-34C3-FCC7-176C9C34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989882"/>
              <a:ext cx="6981535" cy="304266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E207C0-A7EC-4881-607C-B93ED61D89AE}"/>
                </a:ext>
              </a:extLst>
            </p:cNvPr>
            <p:cNvSpPr txBox="1"/>
            <p:nvPr/>
          </p:nvSpPr>
          <p:spPr>
            <a:xfrm>
              <a:off x="2004186" y="4032548"/>
              <a:ext cx="388756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ko-KR" alt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좌</a:t>
              </a:r>
              <a:r>
                <a:rPr lang="en-US" altLang="ko-KR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: (a)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E–V, 	(b) virial P–V. </a:t>
              </a:r>
              <a:r>
                <a:rPr lang="el-GR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ρ₀ · 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K₀ </a:t>
              </a:r>
              <a:r>
                <a:rPr lang="ko-KR" altLang="en-US"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를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추출함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690787-2F2D-73E8-FA45-4A2F74E5F8A5}"/>
                </a:ext>
              </a:extLst>
            </p:cNvPr>
            <p:cNvSpPr txBox="1"/>
            <p:nvPr/>
          </p:nvSpPr>
          <p:spPr>
            <a:xfrm>
              <a:off x="7837371" y="4032548"/>
              <a:ext cx="388756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우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: Bulk modulus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의 밀도에 대한 함수 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K(</a:t>
              </a:r>
              <a:r>
                <a:rPr lang="el-GR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ρ). 	</a:t>
              </a:r>
              <a:endPara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15BFA2A-C4E5-BFFA-93F2-65D5318CC3E5}"/>
              </a:ext>
            </a:extLst>
          </p:cNvPr>
          <p:cNvSpPr txBox="1"/>
          <p:nvPr/>
        </p:nvSpPr>
        <p:spPr>
          <a:xfrm>
            <a:off x="811037" y="4082235"/>
            <a:ext cx="10817699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l-GR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ρ₀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평형 밀도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밀도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g/cm</a:t>
            </a:r>
            <a:r>
              <a:rPr lang="en-US" altLang="ko-KR" sz="160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오차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7.8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감소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+6.6%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+0.8%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)</a:t>
            </a:r>
            <a:endParaRPr lang="ko-KR" altLang="en-US" sz="1600" b="0" i="0" dirty="0"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 (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각자의 </a:t>
            </a:r>
            <a:r>
              <a:rPr lang="el-GR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ρ₀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에서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):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 표면상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 더 가까움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34.3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43.2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결과 해석 주의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latin typeface="Arial"/>
                <a:ea typeface="맑은 고딕"/>
                <a:cs typeface="Arial"/>
              </a:rPr>
              <a:t>두 값은 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K(𝜌) </a:t>
            </a:r>
            <a:r>
              <a:rPr lang="ko-KR" altLang="en-US" sz="1600" b="0" i="0" dirty="0">
                <a:latin typeface="Arial"/>
                <a:ea typeface="맑은 고딕"/>
                <a:cs typeface="Arial"/>
              </a:rPr>
              <a:t>곡선 위 다른 지점 </a:t>
            </a:r>
            <a:r>
              <a:rPr lang="en-US" altLang="ko-KR" sz="1600" b="0" i="0" dirty="0">
                <a:latin typeface="Arial"/>
                <a:ea typeface="맑은 고딕"/>
                <a:cs typeface="Arial"/>
              </a:rPr>
              <a:t>—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K₀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근접은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오차의 산물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 </a:t>
            </a: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K(</a:t>
            </a: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우하향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&amp;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과대 밀도가 곡선 아래쪽을 읽게 함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오차 상쇄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el-GR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에서는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둘 다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 약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20%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과대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altLang="ko-KR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45.3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43.9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DFT(GGA)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문헌도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40–46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현 결과는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포텐셜만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교체한 것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위상은 동일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ko-KR" altLang="en-US" sz="1600" dirty="0"/>
              <a:t>구조 생성 프로토콜이 </a:t>
            </a:r>
            <a:r>
              <a:rPr lang="en-US" altLang="ko-KR" sz="1600" dirty="0"/>
              <a:t>7net </a:t>
            </a:r>
            <a:r>
              <a:rPr lang="ko-KR" altLang="en-US" sz="1600" dirty="0"/>
              <a:t>오차를 더 줄일지는 검증 필요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4D6B2-A618-ED44-C20F-A5528D1C5701}"/>
              </a:ext>
            </a:extLst>
          </p:cNvPr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D4909-CDBE-7727-C3DD-2F86F69092E0}"/>
              </a:ext>
            </a:extLst>
          </p:cNvPr>
          <p:cNvSpPr txBox="1"/>
          <p:nvPr/>
        </p:nvSpPr>
        <p:spPr>
          <a:xfrm>
            <a:off x="8743015" y="490097"/>
            <a:ext cx="3447177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0" latinLnBrk="0" hangingPunct="0">
              <a:lnSpc>
                <a:spcPct val="130000"/>
              </a:lnSpc>
            </a:pP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(exp.: </a:t>
            </a:r>
            <a:r>
              <a:rPr lang="el-GR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g/cm³ </a:t>
            </a:r>
            <a:r>
              <a:rPr lang="en-US" altLang="ko-KR" sz="14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[7],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4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4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lang="en-US" altLang="ko-KR" sz="14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4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[5]</a:t>
            </a:r>
            <a:r>
              <a:rPr lang="en-US" altLang="ko-KR" sz="14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423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1,347,000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1,083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1,244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느림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초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vs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시간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느린 이유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은 원자쌍마다 3층 신경망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텐서곱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classical MD의 해석적 pair 함수 대비 연산량 자릿수 차이</a:t>
            </a:r>
          </a:p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가속의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기준은 AIMD: MLIP O(N) vs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O(N³)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본 연구에서 AIMD는 미측정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 (본 머신): OMP 1.83배 / 독립 프로세스 1.98배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메모리 대역폭 한계일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EA6F4-7754-8B42-1268-567E6596731E}"/>
              </a:ext>
            </a:extLst>
          </p:cNvPr>
          <p:cNvGrpSpPr/>
          <p:nvPr/>
        </p:nvGrpSpPr>
        <p:grpSpPr>
          <a:xfrm>
            <a:off x="7636498" y="1110344"/>
            <a:ext cx="3605140" cy="5233567"/>
            <a:chOff x="7114623" y="1170535"/>
            <a:chExt cx="3605140" cy="5233567"/>
          </a:xfrm>
        </p:grpSpPr>
        <p:sp>
          <p:nvSpPr>
            <p:cNvPr id="5" name="TextBox 4"/>
            <p:cNvSpPr txBox="1"/>
            <p:nvPr/>
          </p:nvSpPr>
          <p:spPr>
            <a:xfrm>
              <a:off x="7349289" y="6129782"/>
              <a:ext cx="328462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(a) 처리량   (b) 병렬 확장성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BA4336-BB60-0C58-78E4-E733C44B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623" y="1170535"/>
              <a:ext cx="3605140" cy="4974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</a:t>
            </a:r>
            <a:r>
              <a:rPr lang="en-US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N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melt-quench · 어닐링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미수행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망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BKS </a:t>
            </a: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것</a:t>
            </a:r>
            <a:r>
              <a:rPr lang="ko-KR" alt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과 동일 구조</a:t>
            </a:r>
            <a:r>
              <a:rPr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(ring 분포 동일)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급랭 5×10¹² K/s (실험 대비 ~10¹³배) · 셀 2,160원자</a:t>
            </a:r>
            <a:endParaRPr sz="1600" b="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측정은 CPU 전용 — </a:t>
            </a:r>
            <a:r>
              <a:rPr lang="en-US" altLang="ko-KR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neural network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텐서곱은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GPU에 유리하나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본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연구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에선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미측정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논문 GPU 벤치</a:t>
            </a:r>
            <a:r>
              <a:rPr lang="en-US" sz="1600" b="0" i="0" baseline="3000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[8]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기준 본 계 규모는 수십 배 </a:t>
            </a:r>
            <a:r>
              <a:rPr lang="en-US" sz="1600" b="0" i="0" dirty="0" err="1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가속</a:t>
            </a: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b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</a:br>
            <a:r>
              <a:rPr lang="en-US" sz="1600" b="0" i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추정</a:t>
            </a:r>
            <a:r>
              <a:rPr lang="en-US" sz="1600" b="0" i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(계가 클수록 유리)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</a:t>
            </a:r>
            <a:r>
              <a:rPr lang="en-US" altLang="ko-KR" sz="105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S.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Oh et al., J. Chem. Inf. Model. (2026)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</a:t>
            </a:r>
            <a:r>
              <a:rPr lang="ko-KR" altLang="en-US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 L.C. Erhard et al., npj Comput. Mater. 8, 90 (2022)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en-US" altLang="ko-KR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9</a:t>
            </a:r>
            <a:r>
              <a:rPr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현 CPU 기준 20 ps ≈ 11시간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300"/>
              </a:spcAft>
              <a:buFont typeface="Wingdings" charset="2"/>
              <a:buChar char="ü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(α)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50000"/>
              </a:lnSpc>
              <a:spcAft>
                <a:spcPts val="1300"/>
              </a:spcAft>
              <a:buFont typeface="Arial" charset="0"/>
              <a:buChar char="–"/>
            </a:pP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 순서: 결정(α-quartz)에서 α 먼저 </a:t>
            </a:r>
            <a:r>
              <a:rPr lang="en-US" sz="16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검증</a:t>
            </a: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a-SiO₂로 확장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3446D2C-2525-4B9E-47FD-979FADB61289}"/>
              </a:ext>
            </a:extLst>
          </p:cNvPr>
          <p:cNvGrpSpPr/>
          <p:nvPr/>
        </p:nvGrpSpPr>
        <p:grpSpPr>
          <a:xfrm>
            <a:off x="6752829" y="4397406"/>
            <a:ext cx="3990109" cy="2023123"/>
            <a:chOff x="7278624" y="3675887"/>
            <a:chExt cx="4828032" cy="244797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79822" y="3675887"/>
              <a:ext cx="4825635" cy="215537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278624" y="5831258"/>
              <a:ext cx="4828032" cy="2926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열팽창계수 α = V(T) 기울기. 첨가물에 따른 α 조절 (schematic)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94181"/>
              </p:ext>
            </p:extLst>
          </p:nvPr>
        </p:nvGraphicFramePr>
        <p:xfrm>
          <a:off x="445179" y="1078992"/>
          <a:ext cx="11234889" cy="5296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포텐셜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</a:t>
                      </a:r>
                      <a:r>
                        <a:rPr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</a:t>
                      </a:r>
                      <a:r>
                        <a:rPr lang="en-US" altLang="ko-KR"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</a:t>
                      </a:r>
                      <a:r>
                        <a:rPr sz="1200" b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]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q(Si) = +2.4 e / q(O) = −1.2 e,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r_c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PPPM 1×10⁻⁴,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분산항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tail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보정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수치안정화를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고정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melt-quench: 300→4000 K 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 K 200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→ 4000→300 K (100 K × 20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 → 300 K 100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br>
                        <a:rPr 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용융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NPT는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붕괴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2.26 → 2.62 g/cm³를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유발해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NVT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고정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부피로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전환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production 3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궤적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20 step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저장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선형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배경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피팅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∵ 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노이즈에 강건한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).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중성자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[10]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1856</Words>
  <Application>Microsoft Macintosh PowerPoint</Application>
  <PresentationFormat>와이드스크린</PresentationFormat>
  <Paragraphs>143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비교와 망 위상 (ρ = 2.20 g/cm³)</vt:lpstr>
      <vt:lpstr>밀도 · 부피탄성률 — 비교 조건의 영향</vt:lpstr>
      <vt:lpstr>계산 비용 — classical MD 대비 ~10³배 (CPU only)</vt:lpstr>
      <vt:lpstr>Limitations &amp;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228</cp:revision>
  <dcterms:created xsi:type="dcterms:W3CDTF">2026-08-14T09:14:06Z</dcterms:created>
  <dcterms:modified xsi:type="dcterms:W3CDTF">2026-08-18T08:14:16Z</dcterms:modified>
</cp:coreProperties>
</file>
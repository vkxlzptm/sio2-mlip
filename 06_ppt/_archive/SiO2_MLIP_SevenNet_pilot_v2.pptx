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898017"/>
            <a:ext cx="9144000" cy="2700594"/>
          </a:xfrm>
        </p:spPr>
        <p:txBody>
          <a:bodyPr anchor="b">
            <a:normAutofit/>
          </a:bodyPr>
          <a:lstStyle>
            <a:lvl1pPr algn="ctr">
              <a:defRPr sz="45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908320"/>
            <a:ext cx="9144000" cy="2271063"/>
          </a:xfrm>
        </p:spPr>
        <p:txBody>
          <a:bodyPr>
            <a:normAutofit/>
          </a:bodyPr>
          <a:lstStyle>
            <a:lvl1pPr marL="0" indent="0"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ECF5E78-1C30-DEFB-F2F4-CB18884819D0}"/>
              </a:ext>
            </a:extLst>
          </p:cNvPr>
          <p:cNvCxnSpPr>
            <a:cxnSpLocks/>
          </p:cNvCxnSpPr>
          <p:nvPr/>
        </p:nvCxnSpPr>
        <p:spPr>
          <a:xfrm>
            <a:off x="437881" y="3775587"/>
            <a:ext cx="11230378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1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atinLnBrk="0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3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20000" y="5742879"/>
            <a:ext cx="10633800" cy="698559"/>
          </a:xfrm>
        </p:spPr>
        <p:txBody>
          <a:bodyPr>
            <a:normAutofit/>
          </a:bodyPr>
          <a:lstStyle>
            <a:lvl1pPr latinLnBrk="0">
              <a:defRPr sz="2200"/>
            </a:lvl1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676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9"/>
            <a:ext cx="10515600" cy="2799720"/>
          </a:xfrm>
        </p:spPr>
        <p:txBody>
          <a:bodyPr anchor="b">
            <a:normAutofit/>
          </a:bodyPr>
          <a:lstStyle>
            <a:lvl1pPr latinLnBrk="0"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7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cxnSp>
        <p:nvCxnSpPr>
          <p:cNvPr id="7" name="직선 연결선[R] 6"/>
          <p:cNvCxnSpPr/>
          <p:nvPr/>
        </p:nvCxnSpPr>
        <p:spPr>
          <a:xfrm>
            <a:off x="831851" y="4509468"/>
            <a:ext cx="10515600" cy="0"/>
          </a:xfrm>
          <a:prstGeom prst="line">
            <a:avLst/>
          </a:prstGeom>
          <a:ln w="66675" cmpd="dbl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081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553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64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689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22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35"/>
            <a:ext cx="617220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kumimoji="1"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057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31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/>
          <a:lstStyle/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793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>
  <p:cSld name="2_제목 및 내용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720000" y="4935691"/>
            <a:ext cx="10633800" cy="1517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15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charset="2"/>
              <a:buChar char="ü"/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lvl="1" indent="-266700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/>
            </a:lvl2pPr>
            <a:lvl3pPr marL="1028700" lvl="2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 panose="02070309020205020404" pitchFamily="49" charset="0"/>
              <a:buChar char="o"/>
              <a:defRPr/>
            </a:lvl3pPr>
            <a:lvl4pPr marL="1371600" lvl="3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4pPr>
            <a:lvl5pPr marL="1714500" lvl="4" indent="-257175" algn="l">
              <a:lnSpc>
                <a:spcPct val="15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✔"/>
              <a:defRPr/>
            </a:lvl5pPr>
            <a:lvl6pPr marL="2057400" lvl="5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11ED3F7-D977-4046-97E6-A3D7881A4583}" type="datetime1">
              <a:rPr kumimoji="1" lang="ko-KR" altLang="en-US" smtClean="0"/>
              <a:t>2026. 8. 14.</a:t>
            </a:fld>
            <a:endParaRPr kumimoji="1" lang="ko-KR" altLang="en-US" dirty="0"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7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kumimoji="1" lang="ko-KR" altLang="en-US" dirty="0"/>
          </a:p>
        </p:txBody>
      </p:sp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480000" y="29233"/>
            <a:ext cx="11520000" cy="86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36" name="Google Shape;36;p25"/>
          <p:cNvCxnSpPr/>
          <p:nvPr/>
        </p:nvCxnSpPr>
        <p:spPr>
          <a:xfrm>
            <a:off x="422991" y="933061"/>
            <a:ext cx="11250844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83431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E099-CB03-03AC-26C3-7E13B1EC31BC}"/>
              </a:ext>
            </a:extLst>
          </p:cNvPr>
          <p:cNvSpPr>
            <a:spLocks/>
          </p:cNvSpPr>
          <p:nvPr/>
        </p:nvSpPr>
        <p:spPr>
          <a:xfrm>
            <a:off x="0" y="6529591"/>
            <a:ext cx="12192000" cy="337078"/>
          </a:xfrm>
          <a:prstGeom prst="rect">
            <a:avLst/>
          </a:prstGeom>
          <a:gradFill>
            <a:gsLst>
              <a:gs pos="0">
                <a:schemeClr val="accent1"/>
              </a:gs>
              <a:gs pos="3000">
                <a:schemeClr val="accent1">
                  <a:satMod val="103000"/>
                  <a:tint val="94000"/>
                  <a:alpha val="70000"/>
                  <a:lumMod val="80000"/>
                  <a:lumOff val="20000"/>
                </a:schemeClr>
              </a:gs>
              <a:gs pos="50000">
                <a:srgbClr val="00BC16">
                  <a:alpha val="60000"/>
                </a:srgbClr>
              </a:gs>
              <a:gs pos="100000">
                <a:schemeClr val="accent1">
                  <a:satMod val="120000"/>
                  <a:shade val="78000"/>
                  <a:alpha val="70000"/>
                  <a:lumMod val="90000"/>
                </a:schemeClr>
              </a:gs>
            </a:gsLst>
          </a:gra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ko-KR" altLang="en-US" sz="135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90719" y="29233"/>
            <a:ext cx="11298562" cy="86651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0000" y="1105205"/>
            <a:ext cx="10633800" cy="5096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 </a:t>
            </a:r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en-US" altLang="ko-KR" dirty="0"/>
              <a:t> </a:t>
            </a:r>
            <a:r>
              <a:rPr kumimoji="1" lang="ko-KR" altLang="en-US" dirty="0"/>
              <a:t>두 번째 수준</a:t>
            </a:r>
          </a:p>
          <a:p>
            <a:pPr lvl="2"/>
            <a:r>
              <a:rPr kumimoji="1" lang="en-US" altLang="ko-KR" dirty="0"/>
              <a:t> </a:t>
            </a:r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ACCA-3741-0D40-A94E-41DBB1D0486F}" type="datetimeFigureOut">
              <a:rPr kumimoji="1" lang="ko-KR" altLang="en-US" smtClean="0"/>
              <a:t>2026. 8. 14.</a:t>
            </a:fld>
            <a:endParaRPr kumimoji="1" lang="ko-KR" altLang="en-US"/>
          </a:p>
        </p:txBody>
      </p:sp>
      <p:cxnSp>
        <p:nvCxnSpPr>
          <p:cNvPr id="11" name="직선 연결선[R] 10"/>
          <p:cNvCxnSpPr/>
          <p:nvPr/>
        </p:nvCxnSpPr>
        <p:spPr>
          <a:xfrm>
            <a:off x="422991" y="875911"/>
            <a:ext cx="112508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7"/>
          <p:cNvSpPr txBox="1">
            <a:spLocks/>
          </p:cNvSpPr>
          <p:nvPr/>
        </p:nvSpPr>
        <p:spPr>
          <a:xfrm>
            <a:off x="10784467" y="6512242"/>
            <a:ext cx="1407532" cy="365125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0C2363-CD13-5E42-92B2-063CBE42B11F}" type="slidenum">
              <a:rPr kumimoji="1" lang="ko-KR" altLang="en-US" sz="1050" smtClean="0">
                <a:solidFill>
                  <a:schemeClr val="tx1"/>
                </a:solidFill>
              </a:rPr>
              <a:pPr/>
              <a:t>‹#›</a:t>
            </a:fld>
            <a:r>
              <a:rPr kumimoji="1" lang="ko-KR" altLang="en-US" sz="1050" dirty="0">
                <a:solidFill>
                  <a:schemeClr val="tx1"/>
                </a:solidFill>
              </a:rPr>
              <a:t> </a:t>
            </a:r>
            <a:r>
              <a:rPr kumimoji="1" lang="en-US" altLang="ko-KR" sz="1050" dirty="0">
                <a:solidFill>
                  <a:schemeClr val="tx1"/>
                </a:solidFill>
              </a:rPr>
              <a:t>/ 8</a:t>
            </a:r>
            <a:endParaRPr kumimoji="1" lang="ko-KR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39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75" indent="-257175" algn="l" defTabSz="514350" rtl="0" eaLnBrk="1" latinLnBrk="1" hangingPunct="1">
        <a:lnSpc>
          <a:spcPct val="150000"/>
        </a:lnSpc>
        <a:spcBef>
          <a:spcPts val="563"/>
        </a:spcBef>
        <a:buFont typeface="Wingdings" charset="2"/>
        <a:buChar char="ü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7148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2866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85838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243013" indent="-214313" algn="l" defTabSz="514350" rtl="0" eaLnBrk="1" latinLnBrk="1" hangingPunct="1">
        <a:lnSpc>
          <a:spcPct val="150000"/>
        </a:lnSpc>
        <a:spcBef>
          <a:spcPts val="281"/>
        </a:spcBef>
        <a:buFont typeface="Wingdings" charset="2"/>
        <a:buChar char="ü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3598F-4E3F-3EE3-C305-D03F2D14C7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600"/>
              </a:spcAft>
              <a:buNone/>
            </a:pPr>
            <a:r>
              <a:rPr sz="40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범용 MLIP의 a-SiO₂ 적용</a:t>
            </a:r>
            <a:endParaRPr kumimoji="1" lang="ko-KR" altLang="en-US"/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40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SevenNet-Nano 파일럿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34F782-153B-88AE-86E5-E64654A9F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1800"/>
              </a:spcAft>
              <a:buNone/>
            </a:pPr>
            <a:r>
              <a:rPr sz="24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· 7net-Nano-4.5 · AIMD(PBE) · 실험 비교</a:t>
            </a:r>
            <a:endParaRPr kumimoji="1" lang="ko-KR" altLang="en-US"/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2200" b="0" i="0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이동현    ·    2026-08-14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5687568"/>
            <a:ext cx="1691640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국소 구조 — 학습한 DFT(PBE)를 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61872"/>
            <a:ext cx="598932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14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 1.605 → 1.635 Å — AIMD(PBE) 1.630 Å과 일치 [4]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4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원인: 7net-Nano-4.5 = 7net-Omni(mpa 채널) 증류 → PBE underbinding 상속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4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O–Si–O는 세 방법 모두 109.4° — 사면체 기하가 고정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14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국소 구조의 정확도 상한 = 학습 데이터의 범함수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114800"/>
          <a:ext cx="521208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868680"/>
                <a:gridCol w="868680"/>
                <a:gridCol w="868680"/>
                <a:gridCol w="1143000"/>
              </a:tblGrid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/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Si–O (Å)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O–O (Å)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Si–Si (Å)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맑은 고딕"/>
                          <a:cs typeface="Arial"/>
                        </a:rPr>
                        <a:t>O–Si–O (°)</a:t>
                      </a:r>
                    </a:p>
                  </a:txBody>
                  <a:tcPr marL="73152" marR="73152" marT="18288" marB="18288" anchor="ctr">
                    <a:solidFill>
                      <a:srgbClr val="1F7A33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expt. [2]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2.63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3.08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109.4–109.7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1.605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2.605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3.155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109.38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1.635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2.655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3.135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C11D"/>
                          </a:solidFill>
                          <a:latin typeface="Arial"/>
                          <a:ea typeface="맑은 고딕"/>
                          <a:cs typeface="Arial"/>
                        </a:rPr>
                        <a:t>109.41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6576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AIMD PBE [4]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1.630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2.670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3.030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109.47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167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제1피크 위치 및 평균 결합각 (ρ = 2.20 g/cm³, 300 K)</a:t>
            </a:r>
          </a:p>
        </p:txBody>
      </p:sp>
      <p:pic>
        <p:nvPicPr>
          <p:cNvPr id="6" name="Picture 5" descr="fig_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24127"/>
            <a:ext cx="3867912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6172200"/>
            <a:ext cx="386791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부분 동경분포 g(r)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[2] Wright, JNCS 179, 84 (1994)   ·   [4] Dechant, JPCC 130, 7148 (2026)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중거리 구조 — 위상은 바뀌지 않음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91672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8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Si–O–Si 151.9° → 145.1° — 실험 밴드 140–150° 진입 [3] (AIMD 138.7°)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8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위치 1.593 → 1.590 Å⁻¹ — 불변, 실험 대비 +6.7 % [1]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8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FSDP 진폭 1.462 → 1.360 — 실험 1.357과 일치 (국소 구조 기여)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8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참조 [4]: 120원자 · quench 5 ps — 본 연구의 100배 급냉 → 정답으로 두지 않음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8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실공간·역공간 두 경로에서 같은 결론: 주기성은 불변</a:t>
            </a:r>
          </a:p>
        </p:txBody>
      </p:sp>
      <p:pic>
        <p:nvPicPr>
          <p:cNvPr id="4" name="Picture 3" descr="fig_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03320"/>
            <a:ext cx="5486400" cy="2395728"/>
          </a:xfrm>
          <a:prstGeom prst="rect">
            <a:avLst/>
          </a:prstGeom>
        </p:spPr>
      </p:pic>
      <p:pic>
        <p:nvPicPr>
          <p:cNvPr id="5" name="Picture 4" descr="fig_s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703320"/>
            <a:ext cx="5349240" cy="24414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결합각 분포 — (a) O–Si–O 동일, (b) Si–O–Si 이동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621792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중성자 S(q) 및 FSDP 확대   [exp.: [1]]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[1] Zeidler, PRL 113, 135501 (2014)   ·   [3] Dupree &amp; Pettifer, Nature 308, 523 (1984)   ·   [4] Dechant, JPCC 130, 7148 (2026)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밀도 · 부피탄성률 — 비교 조건의 영향</a:t>
            </a:r>
          </a:p>
        </p:txBody>
      </p:sp>
      <p:pic>
        <p:nvPicPr>
          <p:cNvPr id="3" name="Picture 2" descr="fig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78992"/>
            <a:ext cx="5769864" cy="2514600"/>
          </a:xfrm>
          <a:prstGeom prst="rect">
            <a:avLst/>
          </a:prstGeom>
        </p:spPr>
      </p:pic>
      <p:pic>
        <p:nvPicPr>
          <p:cNvPr id="4" name="Picture 3" descr="fig_bulkm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64" y="1078992"/>
            <a:ext cx="3072384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3675887"/>
            <a:ext cx="91622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좌: E–V / virial P–V → ρ₀ · K₀          우: 동일 밀도에서 읽은 K(ρ)          [exp.: [5][7]]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41648"/>
            <a:ext cx="11091672" cy="233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밀도 오차 +6.55 % → +0.84 %, 7.8배 감소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K₀(각자 평형): BKS 34.3 / 7net 43.2 GPa — 표면상 BKS 우세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동일 밀도에선 3 % 이내 일치 — K₀′ &lt; 0이라 BKS의 과대 밀도가 K를 낮춤 (오차 상쇄)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ρ = 2.20: 45.3 / 43.9 vs 실험 37 GPa [5] — 둘 다 약 20 % 과대. DFT(GGA) 문헌도 40–46 GPa [6]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6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오차 출처는 포텐셜이 아니라 구조 생성 프로토콜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[5] Deschamps, Sci. Rep. 4, 7193 (2014)   ·   [6] Roy &amp; Bongiorno, JPCC 128, 21220 (2024)   ·   [7] Mazurin et al., Handbook of Glass Data, Part A (1983)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계산 비용 — classical MD 대비 10³배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90472"/>
            <a:ext cx="4617720" cy="402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2,160원자 · i5-11600K 6c/12t · GPU 없음 · cutoff 4.5 Å · ρ = 2.20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BKS 1,347,000 vs 7net 1,083 atom-step/s → 1,244배 (5 ps: 2시간 46분 vs 4초)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병렬 천장: OMP 1.83배 / 독립 프로세스 1.98배 → 메모리 대역폭 제한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AIMD 대비: MLIP O(N) vs DFT O(N³) — 본 연구에서 미측정</a:t>
            </a:r>
          </a:p>
        </p:txBody>
      </p:sp>
      <p:pic>
        <p:nvPicPr>
          <p:cNvPr id="4" name="Picture 3" descr="fig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57400"/>
            <a:ext cx="6400800" cy="2788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40680" y="49560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(a) 처리량   (b) 병렬 확장성 — 2,160원자, GPU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처리량 = 원자 수 × 스텝 수 ÷ 벽시계 시간(atom-step/s). 배수는 조건 의존 — cutoff 5.5 Å · ρ = 2.607에서는 2,462배.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한계 및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81912"/>
            <a:ext cx="6446520" cy="4023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37744" indent="-237744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7net melt-quench · 어닐링 미수행 → 위상은 BKS 것 (ring 분포 동일, MSD 0.041 Å²)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냉각속도 5×10¹² K/s (실험 대비 ~10¹³배) · 셀 2,160원자 · excess energy 미계산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구조 생성: 용융 중 NPT → 부피 붕괴 (2.26 → 2.62 g/cm³) → NVT 고정 부피로 전환</a:t>
            </a:r>
          </a:p>
          <a:p>
            <a:pPr algn="l" marL="237744" indent="-237744" eaLnBrk="0" latinLnBrk="0" hangingPunct="0">
              <a:lnSpc>
                <a:spcPct val="130000"/>
              </a:lnSpc>
              <a:spcAft>
                <a:spcPts val="2000"/>
              </a:spcAft>
              <a:buFont typeface="Wingdings" charset="2"/>
              <a:buChar char="ü"/>
            </a:pPr>
            <a:r>
              <a:rPr sz="16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→ next: 7net melt-quench + 어닐링 [8] — 현 CPU 기준 20 ps ≈ 11시간, GPU 1장이면 실용 범위</a:t>
            </a:r>
          </a:p>
        </p:txBody>
      </p:sp>
      <p:pic>
        <p:nvPicPr>
          <p:cNvPr id="4" name="Picture 3" descr="fig_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691640"/>
            <a:ext cx="4480560" cy="3136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49560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1">
                <a:solidFill>
                  <a:srgbClr val="7A7A7A"/>
                </a:solidFill>
                <a:latin typeface="Arial"/>
                <a:ea typeface="맑은 고딕"/>
                <a:cs typeface="Arial"/>
              </a:rPr>
              <a:t>King ring 크기 분포 — BKS와 7net 이완 구조가 동일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28816"/>
            <a:ext cx="923544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[8] Erhard et al., npj Comput. Mater. 8, 90 (2022)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24712"/>
          <a:ext cx="11091672" cy="5047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8988552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a-SiO₂ 2,160 atoms (720 Si / 1,440 O), ρ = 2.20 g/cm³, cubic PBC, L ≈ 30.4 Å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초기 구조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Materials Project mp-554089 (Pna2₁, 12 atoms/cell) → 6 × 6 × 5 replicate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BKS 포텐셜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Buckingham + Coulomb, q(Si) = +2.4 e / q(O) = −1.2 e, r_c = 10 Å, PPPM 1×10⁻⁴, 분산항 tail 보정 on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단거리 안전항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r⁻¹² 반발 core (WCA형): O–O σ = 1.50 Å, ε = 3.0 eV / Si–O σ = 1.10 Å, ε = 4.0 eV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MLIP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7net-Nano-4.5 (7net-Omni mpa 채널에서 증류), cutoff 4.5 Å, LAMMPS pair_style e3gnn (TorchScript)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구조 생성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NVT 고정 부피 melt-quench: 300 → 4000 K 50 ps → 4000 K 200 ps 용융 → 4000 → 300 K (100 K 간격 × 20 ps) → 300 K 100 ps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냉각속도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5 × 10¹² K/s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용융 검증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MSD 65.4 Å² (4000 K 200 ps, 시간에 선형) — 확산 확인 후에만 quench 진행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적분 · 열욕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timestep 1 fs, Nosé–Hoover NVT, T_damp = 0.1 ps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neighbor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bin, skin 2.0 Å (BKS) / 1.0 Å (7net), every 1 delay 0 check yes, comm cutoff 9.0 Å (7net)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7net MD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300 K NVT, equilibration 2 ps + production 3 ps, 궤적 20 step 간격 저장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300 K NPT 대조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BKS tail on, 100 ps 시간평균 → ρ = 2.3401 g/cm³ (0 K virial 2.3442와 0.17 % 일치)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Appendix. Computational details (2/2) · References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91672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8988552"/>
              </a:tblGrid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E–V 스캔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셀 고정 · 원자만 0 K 이완, 7점. 부피비 f = 0.94–1.06 (7net) / 0.90–1.02 (BKS)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최소화 수렴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etol = 0, ftol = 1×10⁻³ eV/Å, maxiter/maxeval 150 (etol &gt; 0은 셀 자유도에서 조기 종료)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상태방정식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BM3. E(V) 4-파라미터와 virial P(V) 3-파라미터를 독립 피팅, K₀는 P(V) 경로를 채택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g(r)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200 bins, r ≤ 8 Å, 300 K 시간평균. n(Si–O) = 4.001 (컷오프 2.0 Å), Si 4배위 99.86 %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S(q)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주기 셀의 정합 q 벡터 직접 합산 (r 절단 · 창 함수 없음), 껍질 평균 Δq = 2π/L = 0.207 Å⁻¹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FSDP 추출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가우시안 + 선형 배경 피팅 (최댓값은 잡음에 상향 편향). 중성자 가중 0.0694 : 0.3880 : 0.5426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ring 통계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King 기준, 삼중항 (i, j, k) 계수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소프트웨어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LAMMPS stable_2Aug2023_update3 · SevenNet 0.13.0 · PyTorch 2.13.0+cpu · ASE 3.29.0</a:t>
                      </a:r>
                    </a:p>
                  </a:txBody>
                  <a:tcPr marL="73152" marR="73152" marT="18288" marB="18288" anchor="ctr">
                    <a:noFill/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  <a:tr h="347472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하드웨어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 eaLnBrk="0" latinLnBrk="0" hangingPunct="0">
                        <a:lnSpc>
                          <a:spcPct val="13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  <a:ea typeface="맑은 고딕"/>
                          <a:cs typeface="Arial"/>
                        </a:rPr>
                        <a:t>Intel i5-11600K 6c/12t, RAM 15 GB, GPU 없음</a:t>
                      </a:r>
                    </a:p>
                  </a:txBody>
                  <a:tcPr marL="73152" marR="73152" marT="18288" marB="18288" anchor="ctr">
                    <a:solidFill>
                      <a:srgbClr val="F1F6F2"/>
                    </a:solidFill>
                    <a:lnL w="6350" cap="flat" cmpd="sng" algn="ctr">
                      <a:solidFill>
                        <a:srgbClr val="C9CFD2"/>
                      </a:solidFill>
                    </a:lnL>
                    <a:lnR w="6350" cap="flat" cmpd="sng" algn="ctr">
                      <a:solidFill>
                        <a:srgbClr val="C9CFD2"/>
                      </a:solidFill>
                    </a:lnR>
                    <a:lnT w="6350" cap="flat" cmpd="sng" algn="ctr">
                      <a:solidFill>
                        <a:srgbClr val="C9CFD2"/>
                      </a:solidFill>
                    </a:lnT>
                    <a:lnB w="6350" cap="flat" cmpd="sng" algn="ctr">
                      <a:solidFill>
                        <a:srgbClr val="C9CF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315968"/>
            <a:ext cx="1109167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 eaLnBrk="0" latinLnBrk="0" hangingPunct="0">
              <a:lnSpc>
                <a:spcPct val="130000"/>
              </a:lnSpc>
              <a:spcAft>
                <a:spcPts val="300"/>
              </a:spcAft>
              <a:buNone/>
            </a:pPr>
            <a:r>
              <a:rPr sz="1200" b="1" i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References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[1]  A. Zeidler, K. Wezka, R. F. Rowlands et al., Phys. Rev. Lett. 113, 135501 (2014).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[2]  A. C. Wright, J. Non-Cryst. Solids 179, 84 (1994).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[3]  R. Dupree and R. F. Pettifer, Nature 308, 523 (1984).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[4]  G. Dechant, K. Muralidhar, Y. Ma, J. Phys. Chem. C 130, 7148 (2026).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[5]  T. Deschamps, J. Margueritat, C. Martinet et al., Sci. Rep. 4, 7193 (2014).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[6]  U. C. Roy and A. Bongiorno, J. Phys. Chem. C 128, 21220 (2024).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[7]  O. V. Mazurin et al., Handbook of Glass Data, Part A (Elsevier, 1983).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[8]  L. C. Erhard, J. Rohrer, K. Albe, V. L. Deringer, npj Comput. Mater. 8, 90 (2022).</a:t>
            </a:r>
          </a:p>
          <a:p>
            <a:pPr algn="l" marL="0" indent="0" eaLnBrk="0" latinLnBrk="0" hangingPunct="0">
              <a:lnSpc>
                <a:spcPct val="130000"/>
              </a:lnSpc>
              <a:spcAft>
                <a:spcPts val="0"/>
              </a:spcAft>
              <a:buNone/>
            </a:pPr>
            <a:r>
              <a:rPr sz="1000" b="0" i="0">
                <a:solidFill>
                  <a:srgbClr val="262626"/>
                </a:solidFill>
                <a:latin typeface="Arial"/>
                <a:ea typeface="맑은 고딕"/>
                <a:cs typeface="Arial"/>
              </a:rPr>
              <a:t>[9]  B. W. H. van Beest, G. J. Kramer, R. A. van Santen, Phys. Rev. Lett. 64, 1955 (1990).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y_present_wide_light">
  <a:themeElements>
    <a:clrScheme name="사용자 지정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C11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ctr"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>
        <a:ln w="12700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kumimoji="1" sz="2000" b="1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hy_present_wide_light" id="{B682DCEF-9B1D-8841-8C03-B59993AB33ED}" vid="{20E18A43-79AE-9646-8C71-E559D91F96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Courier New</vt:lpstr>
      <vt:lpstr>Wingdings</vt:lpstr>
      <vt:lpstr>phy_present_wide_light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 Hyun David Lee</dc:creator>
  <cp:lastModifiedBy>Dong Hyun David Lee</cp:lastModifiedBy>
  <cp:revision>1</cp:revision>
  <dcterms:created xsi:type="dcterms:W3CDTF">2026-08-14T09:14:06Z</dcterms:created>
  <dcterms:modified xsi:type="dcterms:W3CDTF">2026-08-14T09:14:44Z</dcterms:modified>
</cp:coreProperties>
</file>
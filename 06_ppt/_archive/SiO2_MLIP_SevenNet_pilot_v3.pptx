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73"/>
    <p:restoredTop sz="94684"/>
  </p:normalViewPr>
  <p:slideViewPr>
    <p:cSldViewPr snapToGrid="0">
      <p:cViewPr>
        <p:scale>
          <a:sx n="141" d="100"/>
          <a:sy n="141" d="100"/>
        </p:scale>
        <p:origin x="34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898017"/>
            <a:ext cx="9144000" cy="2700594"/>
          </a:xfrm>
        </p:spPr>
        <p:txBody>
          <a:bodyPr anchor="b">
            <a:normAutofit/>
          </a:bodyPr>
          <a:lstStyle>
            <a:lvl1pPr algn="ctr">
              <a:defRPr sz="4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1524000" y="3908320"/>
            <a:ext cx="9144000" cy="2271063"/>
          </a:xfrm>
        </p:spPr>
        <p:txBody>
          <a:bodyPr>
            <a:normAutofit/>
          </a:bodyPr>
          <a:lstStyle>
            <a:lvl1pPr marL="0" indent="0" algn="ctr">
              <a:buNone/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ko-KR" altLang="en-US"/>
          </a:p>
        </p:txBody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5ECF5E78-1C30-DEFB-F2F4-CB18884819D0}"/>
              </a:ext>
            </a:extLst>
          </p:cNvPr>
          <p:cNvCxnSpPr>
            <a:cxnSpLocks/>
          </p:cNvCxnSpPr>
          <p:nvPr/>
        </p:nvCxnSpPr>
        <p:spPr>
          <a:xfrm>
            <a:off x="437881" y="3775587"/>
            <a:ext cx="1123037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91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latinLnBrk="0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ko-KR" dirty="0"/>
              <a:t> </a:t>
            </a:r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3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20000" y="5742879"/>
            <a:ext cx="10633800" cy="698559"/>
          </a:xfrm>
        </p:spPr>
        <p:txBody>
          <a:bodyPr>
            <a:normAutofit/>
          </a:bodyPr>
          <a:lstStyle>
            <a:lvl1pPr latinLnBrk="0">
              <a:defRPr sz="2200"/>
            </a:lvl1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6767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1" y="1709749"/>
            <a:ext cx="10515600" cy="2799720"/>
          </a:xfrm>
        </p:spPr>
        <p:txBody>
          <a:bodyPr anchor="b">
            <a:normAutofit/>
          </a:bodyPr>
          <a:lstStyle>
            <a:lvl1pPr latinLnBrk="0"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1" y="458947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cxnSp>
        <p:nvCxnSpPr>
          <p:cNvPr id="7" name="직선 연결선[R] 6"/>
          <p:cNvCxnSpPr/>
          <p:nvPr/>
        </p:nvCxnSpPr>
        <p:spPr>
          <a:xfrm>
            <a:off x="831851" y="4509468"/>
            <a:ext cx="10515600" cy="0"/>
          </a:xfrm>
          <a:prstGeom prst="line">
            <a:avLst/>
          </a:prstGeom>
          <a:ln w="66675" cmpd="dbl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8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081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553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646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백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6897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72232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kumimoji="1"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10577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43159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87939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preserve="1">
  <p:cSld name="2_제목 및 내용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>
            <a:spLocks noGrp="1"/>
          </p:cNvSpPr>
          <p:nvPr>
            <p:ph type="body" idx="1"/>
          </p:nvPr>
        </p:nvSpPr>
        <p:spPr>
          <a:xfrm>
            <a:off x="720000" y="4935691"/>
            <a:ext cx="10633800" cy="1517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15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charset="2"/>
              <a:buChar char="ü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lvl="1" indent="-266700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/>
            </a:lvl2pPr>
            <a:lvl3pPr marL="1028700" lvl="2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 panose="02070309020205020404" pitchFamily="49" charset="0"/>
              <a:buChar char="o"/>
              <a:defRPr/>
            </a:lvl3pPr>
            <a:lvl4pPr marL="1371600" lvl="3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marL="1714500" lvl="4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marL="2057400" lvl="5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7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11ED3F7-D977-4046-97E6-A3D7881A4583}" type="datetime1">
              <a:rPr kumimoji="1" lang="ko-KR" altLang="en-US" smtClean="0"/>
              <a:t>2026. 8. 15.</a:t>
            </a:fld>
            <a:endParaRPr kumimoji="1" lang="ko-KR" altLang="en-US" dirty="0"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7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kumimoji="1" lang="ko-KR" altLang="en-US" dirty="0"/>
          </a:p>
        </p:txBody>
      </p:sp>
      <p:sp>
        <p:nvSpPr>
          <p:cNvPr id="35" name="Google Shape;35;p25"/>
          <p:cNvSpPr txBox="1">
            <a:spLocks noGrp="1"/>
          </p:cNvSpPr>
          <p:nvPr>
            <p:ph type="title"/>
          </p:nvPr>
        </p:nvSpPr>
        <p:spPr>
          <a:xfrm>
            <a:off x="480000" y="29233"/>
            <a:ext cx="11520000" cy="866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36" name="Google Shape;36;p25"/>
          <p:cNvCxnSpPr/>
          <p:nvPr/>
        </p:nvCxnSpPr>
        <p:spPr>
          <a:xfrm>
            <a:off x="422991" y="933061"/>
            <a:ext cx="1125084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834311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DB0E099-CB03-03AC-26C3-7E13B1EC31BC}"/>
              </a:ext>
            </a:extLst>
          </p:cNvPr>
          <p:cNvSpPr>
            <a:spLocks/>
          </p:cNvSpPr>
          <p:nvPr/>
        </p:nvSpPr>
        <p:spPr>
          <a:xfrm>
            <a:off x="0" y="6529591"/>
            <a:ext cx="12192000" cy="337078"/>
          </a:xfrm>
          <a:prstGeom prst="rect">
            <a:avLst/>
          </a:prstGeom>
          <a:gradFill>
            <a:gsLst>
              <a:gs pos="0">
                <a:schemeClr val="accent1"/>
              </a:gs>
              <a:gs pos="3000">
                <a:schemeClr val="accent1">
                  <a:satMod val="103000"/>
                  <a:tint val="94000"/>
                  <a:alpha val="70000"/>
                  <a:lumMod val="80000"/>
                  <a:lumOff val="20000"/>
                </a:schemeClr>
              </a:gs>
              <a:gs pos="50000">
                <a:srgbClr val="00BC16">
                  <a:alpha val="60000"/>
                </a:srgbClr>
              </a:gs>
              <a:gs pos="100000">
                <a:schemeClr val="accent1">
                  <a:satMod val="120000"/>
                  <a:shade val="78000"/>
                  <a:alpha val="70000"/>
                  <a:lumMod val="90000"/>
                </a:schemeClr>
              </a:gs>
            </a:gsLst>
          </a:gra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350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90719" y="29233"/>
            <a:ext cx="11298562" cy="86651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endParaRPr kumimoji="1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0000" y="1105205"/>
            <a:ext cx="10633800" cy="5096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ko-KR" dirty="0"/>
              <a:t> </a:t>
            </a:r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en-US" altLang="ko-KR" dirty="0"/>
              <a:t> </a:t>
            </a:r>
            <a:r>
              <a:rPr kumimoji="1" lang="ko-KR" altLang="en-US" dirty="0"/>
              <a:t>두 번째 수준</a:t>
            </a:r>
          </a:p>
          <a:p>
            <a:pPr lvl="2"/>
            <a:r>
              <a:rPr kumimoji="1" lang="en-US" altLang="ko-KR" dirty="0"/>
              <a:t> </a:t>
            </a:r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6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2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cxnSp>
        <p:nvCxnSpPr>
          <p:cNvPr id="11" name="직선 연결선[R] 10"/>
          <p:cNvCxnSpPr/>
          <p:nvPr/>
        </p:nvCxnSpPr>
        <p:spPr>
          <a:xfrm>
            <a:off x="422991" y="875911"/>
            <a:ext cx="1125084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7"/>
          <p:cNvSpPr txBox="1">
            <a:spLocks/>
          </p:cNvSpPr>
          <p:nvPr/>
        </p:nvSpPr>
        <p:spPr>
          <a:xfrm>
            <a:off x="10784467" y="6512242"/>
            <a:ext cx="1407532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0C2363-CD13-5E42-92B2-063CBE42B11F}" type="slidenum">
              <a:rPr kumimoji="1" lang="ko-KR" altLang="en-US" sz="1050" smtClean="0">
                <a:solidFill>
                  <a:schemeClr val="tx1"/>
                </a:solidFill>
              </a:rPr>
              <a:pPr/>
              <a:t>‹#›</a:t>
            </a:fld>
            <a:r>
              <a:rPr kumimoji="1" lang="ko-KR" altLang="en-US" sz="1050" dirty="0">
                <a:solidFill>
                  <a:schemeClr val="tx1"/>
                </a:solidFill>
              </a:rPr>
              <a:t> </a:t>
            </a:r>
            <a:r>
              <a:rPr kumimoji="1" lang="en-US" altLang="ko-KR" sz="1050" dirty="0">
                <a:solidFill>
                  <a:schemeClr val="tx1"/>
                </a:solidFill>
              </a:rPr>
              <a:t>/ 8</a:t>
            </a:r>
            <a:endParaRPr kumimoji="1" lang="ko-KR" altLang="en-US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39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7175" indent="-257175" algn="l" defTabSz="514350" rtl="0" eaLnBrk="1" latinLnBrk="1" hangingPunct="1">
        <a:lnSpc>
          <a:spcPct val="150000"/>
        </a:lnSpc>
        <a:spcBef>
          <a:spcPts val="563"/>
        </a:spcBef>
        <a:buFont typeface="Wingdings" charset="2"/>
        <a:buChar char="ü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71488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28663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85838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243013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3598F-4E3F-3EE3-C305-D03F2D14C7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marL="0" indent="0" eaLnBrk="0" latinLnBrk="0" hangingPunct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Universal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MLIP의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a-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SiO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₂ 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적용</a:t>
            </a:r>
            <a:endParaRPr kumimoji="1" lang="ko-KR" altLang="en-US" dirty="0"/>
          </a:p>
          <a:p>
            <a:pPr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SevenNet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-Nano 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파일럿</a:t>
            </a:r>
            <a:r>
              <a:rPr lang="ko-KR" altLang="en-US" sz="4000" b="1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스터디</a:t>
            </a:r>
            <a:endParaRPr sz="4000" b="1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E34F782-153B-88AE-86E5-E64654A9FE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pPr marL="0" indent="0" eaLnBrk="0" latinLnBrk="0" hangingPunct="0">
              <a:spcBef>
                <a:spcPts val="400"/>
              </a:spcBef>
              <a:spcAft>
                <a:spcPts val="800"/>
              </a:spcAft>
              <a:buNone/>
            </a:pPr>
            <a:r>
              <a:rPr sz="2600" b="0" i="0" dirty="0">
                <a:solidFill>
                  <a:srgbClr val="262626"/>
                </a:solidFill>
                <a:ea typeface="맑은 고딕"/>
              </a:rPr>
              <a:t>BKS · 7net-Nano-4.5 · AIMD(PBE) · </a:t>
            </a:r>
            <a:r>
              <a:rPr sz="2600" b="0" i="0" dirty="0" err="1">
                <a:solidFill>
                  <a:srgbClr val="262626"/>
                </a:solidFill>
                <a:ea typeface="맑은 고딕"/>
              </a:rPr>
              <a:t>실험</a:t>
            </a:r>
            <a:r>
              <a:rPr sz="2600" b="0" i="0" dirty="0">
                <a:solidFill>
                  <a:srgbClr val="262626"/>
                </a:solidFill>
                <a:ea typeface="맑은 고딕"/>
              </a:rPr>
              <a:t> </a:t>
            </a:r>
            <a:r>
              <a:rPr sz="2600" b="0" i="0" dirty="0" err="1">
                <a:solidFill>
                  <a:srgbClr val="262626"/>
                </a:solidFill>
                <a:ea typeface="맑은 고딕"/>
              </a:rPr>
              <a:t>비교</a:t>
            </a:r>
            <a:endParaRPr kumimoji="1" lang="ko-KR" altLang="en-US" sz="2600" dirty="0"/>
          </a:p>
          <a:p>
            <a:pPr marL="0" indent="0" eaLnBrk="0" latinLnBrk="0" hangingPunct="0">
              <a:spcBef>
                <a:spcPts val="400"/>
              </a:spcBef>
              <a:spcAft>
                <a:spcPts val="800"/>
              </a:spcAft>
              <a:buNone/>
            </a:pPr>
            <a:r>
              <a:rPr sz="2600" b="0" i="0" dirty="0">
                <a:ea typeface="맑은 고딕"/>
              </a:rPr>
              <a:t>2026</a:t>
            </a:r>
            <a:r>
              <a:rPr lang="en-US" sz="2600" b="0" i="0" dirty="0">
                <a:ea typeface="맑은 고딕"/>
              </a:rPr>
              <a:t>. </a:t>
            </a:r>
            <a:r>
              <a:rPr sz="2600" b="0" i="0" dirty="0">
                <a:ea typeface="맑은 고딕"/>
              </a:rPr>
              <a:t>08</a:t>
            </a:r>
            <a:r>
              <a:rPr lang="en-US" sz="2600" b="0" i="0" dirty="0">
                <a:ea typeface="맑은 고딕"/>
              </a:rPr>
              <a:t>. </a:t>
            </a:r>
            <a:r>
              <a:rPr sz="2600" b="0" i="0" dirty="0">
                <a:ea typeface="맑은 고딕"/>
              </a:rPr>
              <a:t>1</a:t>
            </a:r>
            <a:r>
              <a:rPr lang="en-US" sz="2600" dirty="0">
                <a:ea typeface="맑은 고딕"/>
              </a:rPr>
              <a:t>5</a:t>
            </a:r>
            <a:r>
              <a:rPr lang="ko-KR" altLang="en-US" sz="2600" b="0" i="0" dirty="0">
                <a:ea typeface="맑은 고딕"/>
              </a:rPr>
              <a:t> </a:t>
            </a:r>
            <a:endParaRPr lang="en-US" altLang="ko-KR" sz="2600" b="0" i="0" dirty="0">
              <a:ea typeface="맑은 고딕"/>
            </a:endParaRPr>
          </a:p>
          <a:p>
            <a:pPr marL="0" indent="0" eaLnBrk="0" latinLnBrk="0" hangingPunct="0">
              <a:spcBef>
                <a:spcPts val="400"/>
              </a:spcBef>
              <a:spcAft>
                <a:spcPts val="800"/>
              </a:spcAft>
              <a:buNone/>
            </a:pPr>
            <a:r>
              <a:rPr lang="ko-KR" altLang="en-US" sz="2600" b="0" i="0" dirty="0">
                <a:ea typeface="맑은 고딕"/>
              </a:rPr>
              <a:t>이동현 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686" y="5687568"/>
            <a:ext cx="1691640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63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실공간 구조 — 결합길이 · 결합각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206240"/>
            <a:ext cx="4718304" cy="20848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11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Si–O 1.605 → 1.635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Å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— AIMD(PBE) 1.630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Å과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일치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[4]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1100"/>
              </a:spcAft>
              <a:buFont typeface="Wingdings" charset="2"/>
              <a:buChar char="ü"/>
            </a:pP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원인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7net-Omni(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mpa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채널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증류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→ PBE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underbinding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상속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11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국소는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PBE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재현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중거리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각은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절반만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이동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922820"/>
              </p:ext>
            </p:extLst>
          </p:nvPr>
        </p:nvGraphicFramePr>
        <p:xfrm>
          <a:off x="548640" y="1019514"/>
          <a:ext cx="4718304" cy="20234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Si–O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O–O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Si–Si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O–Si–O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Si–O–Si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expt. [2][3]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1.61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2.63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3.08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109.4–109.7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140–150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BKS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1.605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2.605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3.155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109.38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151.89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7net-Nano-4.5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1.635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2.655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3.135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109.41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145.05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AIMD PBE [4]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1.630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2.670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3.030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109.47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138.65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59526" y="3071401"/>
            <a:ext cx="4983480" cy="4534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제1피크 </a:t>
            </a:r>
            <a:r>
              <a:rPr sz="10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위치</a:t>
            </a:r>
            <a:r>
              <a:rPr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(</a:t>
            </a:r>
            <a:r>
              <a:rPr sz="10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Å</a:t>
            </a:r>
            <a:r>
              <a:rPr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) · </a:t>
            </a:r>
            <a:r>
              <a:rPr sz="10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평균</a:t>
            </a:r>
            <a:r>
              <a:rPr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결합각</a:t>
            </a:r>
            <a:r>
              <a:rPr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(°), </a:t>
            </a:r>
            <a:r>
              <a:rPr sz="10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ρ</a:t>
            </a:r>
            <a:r>
              <a:rPr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= 2.20 g/cm³ · 300 K.  </a:t>
            </a:r>
            <a:br>
              <a:rPr lang="en-US"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</a:br>
            <a:r>
              <a:rPr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AIMD</a:t>
            </a:r>
            <a:r>
              <a:rPr lang="en-US" altLang="ko-KR" sz="1000" b="0" baseline="300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[4]</a:t>
            </a:r>
            <a:r>
              <a:rPr lang="ko-KR" altLang="en-US"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는</a:t>
            </a:r>
            <a:r>
              <a:rPr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120원자 · quench 5 </a:t>
            </a:r>
            <a:r>
              <a:rPr sz="10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ps로</a:t>
            </a:r>
            <a:r>
              <a:rPr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본</a:t>
            </a:r>
            <a:r>
              <a:rPr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연구의</a:t>
            </a:r>
            <a:r>
              <a:rPr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100배 </a:t>
            </a:r>
            <a:r>
              <a:rPr sz="10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급냉</a:t>
            </a:r>
            <a:r>
              <a:rPr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— </a:t>
            </a:r>
            <a:r>
              <a:rPr sz="10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정답으로</a:t>
            </a:r>
            <a:r>
              <a:rPr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두지</a:t>
            </a:r>
            <a:r>
              <a:rPr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않음</a:t>
            </a:r>
            <a:endParaRPr sz="1000" b="0" dirty="0">
              <a:solidFill>
                <a:srgbClr val="7A7A7A"/>
              </a:solidFill>
              <a:latin typeface="Arial"/>
              <a:ea typeface="맑은 고딕"/>
              <a:cs typeface="Arial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E46EF3F-435D-7424-B1D7-97879AF1AC3D}"/>
              </a:ext>
            </a:extLst>
          </p:cNvPr>
          <p:cNvGrpSpPr/>
          <p:nvPr/>
        </p:nvGrpSpPr>
        <p:grpSpPr>
          <a:xfrm>
            <a:off x="8920094" y="953155"/>
            <a:ext cx="3099816" cy="4295501"/>
            <a:chOff x="8800351" y="953155"/>
            <a:chExt cx="3099816" cy="4295501"/>
          </a:xfrm>
        </p:grpSpPr>
        <p:pic>
          <p:nvPicPr>
            <p:cNvPr id="7" name="Picture 6" descr="fig_bad_vert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60536" y="1188720"/>
              <a:ext cx="2779776" cy="4059936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8800351" y="953155"/>
              <a:ext cx="3099816" cy="3319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indent="0" algn="ctr" eaLnBrk="0" latinLnBrk="0" hangingPunct="0">
                <a:lnSpc>
                  <a:spcPct val="130000"/>
                </a:lnSpc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Bond Angle Distribution</a:t>
              </a:r>
              <a:endParaRPr sz="1600" b="1" dirty="0">
                <a:solidFill>
                  <a:srgbClr val="7A7A7A"/>
                </a:solidFill>
                <a:latin typeface="Arial"/>
                <a:ea typeface="맑은 고딕"/>
                <a:cs typeface="Arial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[2] Wright, JNCS 179, 84 (1994)   ·   [3] Dupree &amp; Pettifer, Nature 308, 523 (1984)   ·   [4] </a:t>
            </a:r>
            <a:r>
              <a:rPr sz="10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Dechant</a:t>
            </a:r>
            <a:r>
              <a:rPr sz="10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, JPCC 130, 7148 (2026)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7B84643-174A-0866-0C92-968F74680881}"/>
              </a:ext>
            </a:extLst>
          </p:cNvPr>
          <p:cNvGrpSpPr/>
          <p:nvPr/>
        </p:nvGrpSpPr>
        <p:grpSpPr>
          <a:xfrm>
            <a:off x="5651863" y="953155"/>
            <a:ext cx="3409798" cy="4498498"/>
            <a:chOff x="5532120" y="953155"/>
            <a:chExt cx="3409798" cy="4498498"/>
          </a:xfrm>
        </p:grpSpPr>
        <p:pic>
          <p:nvPicPr>
            <p:cNvPr id="6" name="Picture 5" descr="fig_pdf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32120" y="985723"/>
              <a:ext cx="3409798" cy="446593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0448121-AFA5-669C-ABCA-E6AACB33C7C1}"/>
                </a:ext>
              </a:extLst>
            </p:cNvPr>
            <p:cNvSpPr txBox="1"/>
            <p:nvPr/>
          </p:nvSpPr>
          <p:spPr>
            <a:xfrm>
              <a:off x="5646420" y="953155"/>
              <a:ext cx="3099816" cy="3319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indent="0" algn="ctr" eaLnBrk="0" latinLnBrk="0" hangingPunct="0">
                <a:lnSpc>
                  <a:spcPct val="130000"/>
                </a:lnSpc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Partial Distribution Function</a:t>
              </a:r>
              <a:endParaRPr sz="1600" b="1" dirty="0">
                <a:solidFill>
                  <a:srgbClr val="7A7A7A"/>
                </a:solidFill>
                <a:latin typeface="Arial"/>
                <a:ea typeface="맑은 고딕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Structure factor S(q) </a:t>
            </a:r>
            <a:r>
              <a:rPr lang="ko-KR" alt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비교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FSDP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위치는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불변</a:t>
            </a:r>
            <a:endParaRPr sz="320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2807" y="4754880"/>
            <a:ext cx="10083338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1.593 → 1.590 Å⁻¹ 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두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방법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차이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없음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대비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+6.7 % [1]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진폭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1.462 → 1.360 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1.357과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일치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(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국소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구조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기여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q</a:t>
            </a:r>
            <a:r>
              <a:rPr sz="1600" b="0" i="0" baseline="-2500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는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중거리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주기성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(2π/q)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역수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→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망의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위상이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지배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실공간과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독립된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경로에서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같은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결론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위상은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불변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4" name="Picture 3" descr="fig_s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952" y="969702"/>
            <a:ext cx="8385048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01952" y="4325112"/>
            <a:ext cx="83850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1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중성자</a:t>
            </a:r>
            <a:r>
              <a: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1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구조인자</a:t>
            </a:r>
            <a:r>
              <a: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S(q) — (a) </a:t>
            </a:r>
            <a:r>
              <a:rPr sz="11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전</a:t>
            </a:r>
            <a:r>
              <a: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1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구간</a:t>
            </a:r>
            <a:r>
              <a: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, (b) FSDP </a:t>
            </a:r>
            <a:r>
              <a:rPr sz="11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확대</a:t>
            </a:r>
            <a:r>
              <a: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  [exp.: [1]]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[1] Zeidler, PRL 113, 135501 (2014). FSDP = first sharp diffraction peak, 유리 중거리 질서의 표준 지표.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밀도 · 부피탄성률 — 비교 조건의 영향</a:t>
            </a:r>
          </a:p>
        </p:txBody>
      </p:sp>
      <p:pic>
        <p:nvPicPr>
          <p:cNvPr id="3" name="Picture 2" descr="fig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89882"/>
            <a:ext cx="6981535" cy="3042666"/>
          </a:xfrm>
          <a:prstGeom prst="rect">
            <a:avLst/>
          </a:prstGeom>
        </p:spPr>
      </p:pic>
      <p:pic>
        <p:nvPicPr>
          <p:cNvPr id="4" name="Picture 3" descr="fig_bulkm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7969" y="936181"/>
            <a:ext cx="4089342" cy="33469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0769" y="4032548"/>
            <a:ext cx="625796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좌: E–V / virial P–V → ρ₀ · K₀          우: 동일 밀도에서 읽은 K(ρ)          [exp.: [5][7]]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52628"/>
            <a:ext cx="11091672" cy="2331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밀도 오차 +6.55 % → +0.84 %, 7.8배 감소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K₀(각자 평형): BKS 34.3 / 7net 43.2 GPa — 표면상 BKS 우세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동일 밀도에선 3 % 이내 일치 — K₀′ &lt; 0이라 BKS의 과대 밀도가 K를 낮춤 (오차 상쇄)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ρ = 2.20: 45.3 / 43.9 vs 실험 37 GPa [5] — 둘 다 약 20 % 과대. DFT(GGA) 문헌도 40–46 GPa [6]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오차 출처는 포텐셜이 아니라 구조 생성 프로토콜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[5] Deschamps, Sci. Rep. 4, 7193 (2014)   ·   [6] Roy &amp; Bongiorno, JPCC 128, 21220 (2024)   ·   [7] Mazurin et al., Handbook of Glass Data, Part A (1983)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계산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비용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classical MD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대비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~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10³배</a:t>
            </a: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(CPU only)</a:t>
            </a:r>
            <a:endParaRPr sz="320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490472"/>
            <a:ext cx="4617720" cy="402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2,160원자 · i5-11600K 6c/12t · GPU 없음 · cutoff 4.5 Å · ρ = 2.20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BKS 1,347,000 vs 7net 1,083 atom-step/s → 1,244배 (5 ps: 2시간 46분 vs 4초)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병렬 천장: OMP 1.83배 / 독립 프로세스 1.98배 → 메모리 대역폭 제한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AIMD 대비: MLIP O(N) vs DFT O(N³) — 본 연구에서 미측정</a:t>
            </a:r>
          </a:p>
        </p:txBody>
      </p:sp>
      <p:pic>
        <p:nvPicPr>
          <p:cNvPr id="4" name="Picture 3" descr="fig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057400"/>
            <a:ext cx="6400800" cy="2788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40680" y="49560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(a) 처리량   (b) 병렬 확장성 — 2,160원자, GPU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처리량 = 원자 수 × 스텝 수 ÷ 벽시계 시간(atom-step/s). 배수는 조건 의존 — cutoff 5.5 Å · ρ = 2.607에서는 2,462배.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한계 및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81912"/>
            <a:ext cx="6446520" cy="402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7net melt-quench · 어닐링 미수행 → 위상은 BKS 것 (ring 분포 동일, MSD 0.041 Å²)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냉각속도 5×10¹² K/s (실험 대비 ~10¹³배) · 셀 2,160원자 · excess energy 미계산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구조 생성: 용융 중 NPT → 부피 붕괴 (2.26 → 2.62 g/cm³) → NVT 고정 부피로 전환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next: 7net melt-quench + 어닐링 [8] — 현 CPU 기준 20 ps ≈ 11시간, GPU 1장이면 실용 범위</a:t>
            </a:r>
          </a:p>
        </p:txBody>
      </p:sp>
      <p:pic>
        <p:nvPicPr>
          <p:cNvPr id="4" name="Picture 3" descr="fig_r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91640"/>
            <a:ext cx="4480560" cy="31363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495604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King ring 크기 분포 — BKS와 7net 이완 구조가 동일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[8] Erhard et al., npj Comput. Mater. 8, 90 (2022)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Appendix. Computational details (1/2)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24712"/>
          <a:ext cx="11091672" cy="5047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8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계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a-SiO₂ 2,160 atoms (720 Si / 1,440 O), ρ = 2.20 g/cm³, cubic PBC, L ≈ 30.4 Å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초기 구조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Materials Project mp-554089 (Pna2₁, 12 atoms/cell) → 6 × 6 × 5 replicate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BKS 포텐셜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Buckingham + Coulomb, q(Si) = +2.4 e / q(O) = −1.2 e, r_c = 10 Å, PPPM 1×10⁻⁴, 분산항 tail 보정 on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단거리 안전항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r⁻¹² 반발 core (WCA형): O–O σ = 1.50 Å, ε = 3.0 eV / Si–O σ = 1.10 Å, ε = 4.0 eV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MLIP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7net-Nano-4.5 (7net-Omni mpa 채널에서 증류), cutoff 4.5 Å, LAMMPS pair_style e3gnn (TorchScript)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구조 생성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NVT 고정 부피 melt-quench: 300 → 4000 K 50 ps → 4000 K 200 ps 용융 → 4000 → 300 K (100 K 간격 × 20 ps) → 300 K 100 ps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냉각속도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5 × 10¹² K/s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용융 검증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MSD 65.4 Å² (4000 K 200 ps, 시간에 선형) — 확산 확인 후에만 quench 진행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적분 · 열욕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timestep 1 fs, Nosé–Hoover NVT, T_damp = 0.1 ps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neighbor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bin, skin 2.0 Å (BKS) / 1.0 Å (7net), every 1 delay 0 check yes, comm cutoff 9.0 Å (7net)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7net MD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300 K NVT, equilibration 2 ps + production 3 ps, 궤적 20 step 간격 저장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300 K NPT 대조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BKS tail on, 100 ps 시간평균 → ρ = 2.3401 g/cm³ (0 K virial 2.3442와 0.17 % 일치)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Appendix. Computational details (2/2) · References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91672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8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E–V 스캔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셀 고정 · 원자만 0 K 이완, 7점. 부피비 f = 0.94–1.06 (7net) / 0.90–1.02 (BKS)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최소화 수렴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etol = 0, ftol = 1×10⁻³ eV/Å, maxiter/maxeval 150 (etol &gt; 0은 셀 자유도에서 조기 종료)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상태방정식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BM3. E(V) 4-파라미터와 virial P(V) 3-파라미터를 독립 피팅, K₀는 P(V) 경로를 채택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g(r)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200 bins, r ≤ 8 Å, 300 K 시간평균. n(Si–O) = 4.001 (컷오프 2.0 Å), Si 4배위 99.86 %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S(q)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주기 셀의 정합 q 벡터 직접 합산 (r 절단 · 창 함수 없음), 껍질 평균 Δq = 2π/L = 0.207 Å⁻¹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FSDP 추출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가우시안 + 선형 배경 피팅 (최댓값은 잡음에 상향 편향). 중성자 가중 0.0694 : 0.3880 : 0.5426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ring 통계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King 기준, 삼중항 (i, j, k) 계수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소프트웨어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LAMMPS stable_2Aug2023_update3 · SevenNet 0.13.0 · PyTorch 2.13.0+cpu · ASE 3.29.0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하드웨어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Intel i5-11600K 6c/12t, RAM 15 GB, GPU 없음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315968"/>
            <a:ext cx="11091672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300"/>
              </a:spcAft>
              <a:buNone/>
            </a:pPr>
            <a:r>
              <a:rPr sz="1200" b="1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References</a:t>
            </a:r>
          </a:p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[1]  A. Zeidler, K. Wezka, R. F. Rowlands et al., Phys. Rev. Lett. 113, 135501 (2014).</a:t>
            </a:r>
          </a:p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[2]  A. C. Wright, J. Non-Cryst. Solids 179, 84 (1994).</a:t>
            </a:r>
          </a:p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[3]  R. Dupree and R. F. Pettifer, Nature 308, 523 (1984).</a:t>
            </a:r>
          </a:p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[4]  G. Dechant, K. Muralidhar, Y. Ma, J. Phys. Chem. C 130, 7148 (2026).</a:t>
            </a:r>
          </a:p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[5]  T. Deschamps, J. Margueritat, C. Martinet et al., Sci. Rep. 4, 7193 (2014).</a:t>
            </a:r>
          </a:p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[6]  U. C. Roy and A. Bongiorno, J. Phys. Chem. C 128, 21220 (2024).</a:t>
            </a:r>
          </a:p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[7]  O. V. Mazurin et al., Handbook of Glass Data, Part A (Elsevier, 1983).</a:t>
            </a:r>
          </a:p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[8]  L. C. Erhard, J. Rohrer, K. Albe, V. L. Deringer, npj Comput. Mater. 8, 90 (2022).</a:t>
            </a:r>
          </a:p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[9]  B. W. H. van Beest, G. J. Kramer, R. A. van Santen, Phys. Rev. Lett. 64, 1955 (1990).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y_present_wide_light">
  <a:themeElements>
    <a:clrScheme name="사용자 지정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C11D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ctr">
          <a:defRPr kumimoji="1" sz="2000" b="1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>
        <a:ln w="12700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50000"/>
          </a:lnSpc>
          <a:defRPr kumimoji="1" sz="2000" b="1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hy_present_wide_light" id="{B682DCEF-9B1D-8841-8C03-B59993AB33ED}" vid="{20E18A43-79AE-9646-8C71-E559D91F96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1543</Words>
  <Application>Microsoft Macintosh PowerPoint</Application>
  <PresentationFormat>와이드스크린</PresentationFormat>
  <Paragraphs>125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Arial</vt:lpstr>
      <vt:lpstr>Courier New</vt:lpstr>
      <vt:lpstr>Wingdings</vt:lpstr>
      <vt:lpstr>phy_present_wide_light</vt:lpstr>
      <vt:lpstr>Universal MLIP의 a-SiO₂ 적용 SevenNet-Nano 파일럿 스터디</vt:lpstr>
      <vt:lpstr>실공간 구조 — 결합길이 · 결합각</vt:lpstr>
      <vt:lpstr>Structure factor S(q) 비교 — FSDP 위치는 불변</vt:lpstr>
      <vt:lpstr>밀도 · 부피탄성률 — 비교 조건의 영향</vt:lpstr>
      <vt:lpstr>계산 비용 — classical MD 대비 ~10³배 (CPU only)</vt:lpstr>
      <vt:lpstr>한계 및 next step</vt:lpstr>
      <vt:lpstr>Appendix. Computational details (1/2)</vt:lpstr>
      <vt:lpstr>Appendix. Computational details (2/2) ·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 Hyun David Lee</dc:creator>
  <cp:lastModifiedBy>Dong Hyun David Lee</cp:lastModifiedBy>
  <cp:revision>19</cp:revision>
  <dcterms:created xsi:type="dcterms:W3CDTF">2026-08-14T09:14:06Z</dcterms:created>
  <dcterms:modified xsi:type="dcterms:W3CDTF">2026-08-15T04:25:53Z</dcterms:modified>
</cp:coreProperties>
</file>
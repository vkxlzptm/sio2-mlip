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4"/>
    <p:restoredTop sz="94684"/>
  </p:normalViewPr>
  <p:slideViewPr>
    <p:cSldViewPr snapToGrid="0">
      <p:cViewPr>
        <p:scale>
          <a:sx n="112" d="100"/>
          <a:sy n="112" d="100"/>
        </p:scale>
        <p:origin x="1552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, MLIP</a:t>
            </a:r>
            <a:r>
              <a:rPr lang="ko-KR" altLang="en-US" sz="1200" dirty="0"/>
              <a:t>는 </a:t>
            </a:r>
            <a:r>
              <a:rPr lang="en-US" altLang="ko-KR" sz="1200" dirty="0"/>
              <a:t>DFT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넘지 못함</a:t>
            </a:r>
            <a:r>
              <a:rPr lang="en-US" altLang="ko-KR" sz="1200" dirty="0"/>
              <a:t>.</a:t>
            </a:r>
            <a:endParaRPr lang="ko-KR" altLang="en-US" sz="120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2026. 8. 15.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7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sz="2600" dirty="0">
                <a:ea typeface="맑은 고딕"/>
              </a:rPr>
              <a:t>5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결합길이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결합각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5108" y="4575135"/>
            <a:ext cx="5368399" cy="19443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Length ]</a:t>
            </a: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7net-Nano-4.5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7net-Omni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증류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PBE(+U)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underbinding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상속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Si–O (1.635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실험 대비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+1.6 %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AIMD (1.630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경향과 일치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MLIP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정확도 상한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범함수</a:t>
            </a:r>
            <a:endParaRPr sz="160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118559"/>
              </p:ext>
            </p:extLst>
          </p:nvPr>
        </p:nvGraphicFramePr>
        <p:xfrm>
          <a:off x="431945" y="1257301"/>
          <a:ext cx="5100175" cy="2462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1547">
                <a:tc rowSpan="2"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Bond length </a:t>
                      </a:r>
                      <a:br>
                        <a:rPr lang="en-US"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</a:b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(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lang="en-US" altLang="ko-KR"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,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 1st peak)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Average bond angle (°)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220">
                <a:tc vMerge="1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46367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</a:t>
                      </a:r>
                      <a:r>
                        <a:rPr sz="1200" b="0" i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</a:t>
                      </a:r>
                      <a:r>
                        <a:rPr sz="1200" b="0" i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5300" y="3719110"/>
            <a:ext cx="5006945" cy="511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g/cm³ · 300 K.  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sz="1050" b="0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[1]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은 120원자 · </a:t>
            </a:r>
            <a:r>
              <a:rPr 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L = 12.2 </a:t>
            </a:r>
            <a:r>
              <a:rPr lang="en-US"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· quench 5 </a:t>
            </a:r>
            <a:r>
              <a:rPr lang="en-US"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≈ 4×10¹⁴ K/s</a:t>
            </a:r>
            <a:r>
              <a:rPr lang="ko-KR" alt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</a:t>
            </a:r>
            <a:r>
              <a:rPr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연구의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100배 </a:t>
            </a:r>
            <a:r>
              <a:rPr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급</a:t>
            </a:r>
            <a:r>
              <a:rPr lang="ko-KR" alt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랭</a:t>
            </a:r>
            <a:r>
              <a:rPr lang="en-US" altLang="ko-KR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endParaRPr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81745" y="920472"/>
            <a:ext cx="2659777" cy="38946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268" y="6519481"/>
            <a:ext cx="8779267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JPCC 130, 7148 (2026)   ·   [2]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Wright, JNCS 179, 84 (1994)   ·   [3]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Dupree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R. F.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Pettifer, Nature 308, 523 (1984)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 t="6124"/>
          <a:stretch/>
        </p:blipFill>
        <p:spPr>
          <a:xfrm>
            <a:off x="5877355" y="920472"/>
            <a:ext cx="3271000" cy="40184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E73C80-9914-EF34-85CD-468D8639E658}"/>
              </a:ext>
            </a:extLst>
          </p:cNvPr>
          <p:cNvSpPr txBox="1"/>
          <p:nvPr/>
        </p:nvSpPr>
        <p:spPr>
          <a:xfrm>
            <a:off x="5829242" y="4953107"/>
            <a:ext cx="6195118" cy="1566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eaLnBrk="0" latinLnBrk="0" hangingPunct="0">
              <a:lnSpc>
                <a:spcPct val="150000"/>
              </a:lnSpc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Angle ]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Si–O–Si: </a:t>
            </a:r>
            <a:r>
              <a:rPr lang="en-US" sz="1600" b="0" i="0" dirty="0">
                <a:solidFill>
                  <a:srgbClr val="0070C0"/>
                </a:solidFill>
                <a:latin typeface="Arial"/>
                <a:ea typeface="맑은 고딕"/>
                <a:cs typeface="Arial"/>
              </a:rPr>
              <a:t>BKS 151.9°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en-US" sz="1600" b="0" i="0" dirty="0">
                <a:solidFill>
                  <a:srgbClr val="FF0000"/>
                </a:solidFill>
                <a:latin typeface="Arial"/>
                <a:ea typeface="맑은 고딕"/>
                <a:cs typeface="Arial"/>
              </a:rPr>
              <a:t>7net 145.1°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</a:t>
            </a:r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실험 밴드 </a:t>
            </a:r>
            <a:r>
              <a:rPr lang="en-US" altLang="ko-KR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140–150°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내부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chemeClr val="accent1"/>
                </a:solidFill>
                <a:latin typeface="Arial"/>
                <a:ea typeface="맑은 고딕"/>
                <a:cs typeface="Arial"/>
              </a:rPr>
              <a:t>AIMD 138.7°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밴드 아래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 정답 보장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X,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해석 주의 필요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(∵ 120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cell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 quench 5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급냉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흔적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한계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가능성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†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B3570-4989-8489-53F0-89EA482E129C}"/>
              </a:ext>
            </a:extLst>
          </p:cNvPr>
          <p:cNvSpPr txBox="1"/>
          <p:nvPr/>
        </p:nvSpPr>
        <p:spPr>
          <a:xfrm>
            <a:off x="9129901" y="6519481"/>
            <a:ext cx="2543041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baseline="300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†</a:t>
            </a:r>
            <a:r>
              <a:rPr lang="ko-KR" altLang="en-US" sz="1050" b="0" i="0" baseline="300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4-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고리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16.3 % vs 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우리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10.2 %; 6p. </a:t>
            </a:r>
            <a:r>
              <a:rPr lang="ko-KR" altLang="en-US" sz="105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참조</a:t>
            </a:r>
            <a:r>
              <a:rPr lang="en-US" altLang="ko-KR" sz="105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endParaRPr sz="105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48ABE-298C-D2D3-3199-F0B45145765F}"/>
              </a:ext>
            </a:extLst>
          </p:cNvPr>
          <p:cNvSpPr txBox="1"/>
          <p:nvPr/>
        </p:nvSpPr>
        <p:spPr>
          <a:xfrm>
            <a:off x="6494572" y="4773062"/>
            <a:ext cx="51743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Partial Distribution Function.	</a:t>
            </a:r>
            <a:r>
              <a:rPr lang="ko-KR" altLang="en-US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우</a:t>
            </a:r>
            <a:r>
              <a:rPr lang="en-US" altLang="ko-KR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Angle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 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FSDP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불변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2807" y="4754880"/>
            <a:ext cx="100833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1.593 → 1.590 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+6.7 %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[4]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진폭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1.462 → 1.360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1.357과 </a:t>
            </a: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consistent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기여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주기성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(2π/q)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역수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지배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경로에서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같은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결론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불변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969702"/>
            <a:ext cx="8385048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1952" y="4325112"/>
            <a:ext cx="8385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중성자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구조인자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S(q) — (a)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, (b) FSDP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확대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Digitized 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exp.</a:t>
            </a:r>
            <a:r>
              <a:rPr sz="11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[4]</a:t>
            </a:r>
            <a:r>
              <a:rPr lang="ko-KR" altLang="en-US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결과와 직접 비교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endParaRPr sz="1100" b="0" i="1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Zeidler et al., PRL 113, 135501 (2014). FSDP = first sharp diffraction peak,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질서의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표준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비교 조건의 영향</a:t>
            </a: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9882"/>
            <a:ext cx="6981535" cy="3042666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969" y="936182"/>
            <a:ext cx="3867732" cy="31655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325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0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0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(a)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E–V, (b) virial P–V. </a:t>
            </a:r>
            <a:r>
              <a:rPr lang="el-GR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ρ₀ ·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K₀ </a:t>
            </a:r>
            <a:r>
              <a:rPr lang="ko-KR" altLang="en-US"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를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추출함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      우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Bulk modulus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밀도에 대한 함수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K(</a:t>
            </a:r>
            <a:r>
              <a:rPr lang="el-GR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ρ). 	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(exp.: </a:t>
            </a:r>
            <a:r>
              <a:rPr lang="el-GR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g/cm³ </a:t>
            </a:r>
            <a:r>
              <a:rPr lang="en-US" altLang="ko-KR" sz="10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[7],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000" i="1" baseline="-250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37 </a:t>
            </a:r>
            <a:r>
              <a:rPr lang="en-US" altLang="ko-KR"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[5]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52628"/>
            <a:ext cx="1109167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+6.55 % → +0.84 %, 7.8배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감소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평형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): BKS 34.3 / 7net 43.2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표면상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우세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밀도에선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3 %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K₀′ &lt; 0이라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과대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낮춤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상쇄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2.20: 45.3 / 43.9 vs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37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[5]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약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20 %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과대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DFT(GGA)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문헌도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40–46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출처는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포텐셜이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아니라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생성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프로토콜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495" y="6531838"/>
            <a:ext cx="11024479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Deschamps et al., Sci. Rep. 4, 7193 (2014)   ·   [6]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Roy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Bongiorno, JPCC 128, 21220 (2024)   ·   [7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] O. V.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2,160원자 · i5-11600K 6c/12t · GPU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cutoff 4.5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→ 1,244배 (5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2시간 46분 vs 4초)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천장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OMP 1.83배 /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프로세스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1.98배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메모리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대역폭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제한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MLIP O(N) vs DFT O(N³)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연구에서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미측정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6400800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4956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64465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어닐링 미수행 → 위상은 BKS 것 (ring 분포 동일, MSD 0.041 Å²)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 5×10¹² K/s (실험 대비 ~10¹³배) · 셀 2,160원자 · excess energy 미계산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 생성: 용융 중 NPT → 부피 붕괴 (2.26 → 2.62 g/cm³) → NVT 고정 부피로 전환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어닐링</a:t>
            </a:r>
            <a:r>
              <a:rPr sz="1600" b="0" i="0" baseline="3000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</a:t>
            </a: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현 CPU 기준 20 ps ≈ 11시간, GPU 1장이면 실용 범위</a:t>
            </a:r>
          </a:p>
        </p:txBody>
      </p:sp>
      <p:pic>
        <p:nvPicPr>
          <p:cNvPr id="4" name="Picture 3" descr="fig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91640"/>
            <a:ext cx="4480560" cy="313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49560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King ring 크기 분포 — BKS와 7net 이완 구조가 동일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L.C.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Erhard et al.,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npj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Comput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630142"/>
              </p:ext>
            </p:extLst>
          </p:nvPr>
        </p:nvGraphicFramePr>
        <p:xfrm>
          <a:off x="548640" y="1078992"/>
          <a:ext cx="11091672" cy="5129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</a:t>
                      </a:r>
                      <a:r>
                        <a:rPr sz="1200" b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[9]</a:t>
                      </a: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q(Si) = +2.4 e / q(O) = −1.2 e, r_c = 10 Å, PPPM 1×10⁻⁴, 분산항 tail 보정 on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안전항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core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WCA형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): O–O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3.0 eV / Si–O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4.0 eV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고온 계산 안정화를 위해 근거리 </a:t>
                      </a:r>
                      <a:r>
                        <a:rPr lang="ko-KR" altLang="en-US"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반발항</a:t>
                      </a:r>
                      <a:r>
                        <a:rPr lang="ko-KR" altLang="en-US"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추가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300→4000 K 50 ps → 4000 K 200 ps → 4000→300 K (100 K × 20 ps) → 300 K 100 ps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MD 조건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NVT, Nosé–Hoover thermostat (T_damp = 0.1 ps), timestep 1 fs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ps + production 3 ps, 궤적 20 step 간격 저장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 · 배위수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dr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0.01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r ≤ 8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300 K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제1피크는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히스토그램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n(Si–O) = 4.001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컷오프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정합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벡터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직접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합산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(r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절단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함수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껍질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Δq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2π/L = 0.207 Å⁻¹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 (최댓값은 잡음에 상향 편향). 중성자 가중 0.0694 : 0.3880 : 0.5426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</a:t>
            </a:r>
            <a:r>
              <a:rPr lang="en-US" altLang="ko-KR" sz="105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1413</Words>
  <Application>Microsoft Macintosh PowerPoint</Application>
  <PresentationFormat>와이드스크린</PresentationFormat>
  <Paragraphs>115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 — FSDP 위치는 불변</vt:lpstr>
      <vt:lpstr>밀도 · 부피탄성률 — 비교 조건의 영향</vt:lpstr>
      <vt:lpstr>계산 비용 — classical MD 대비 ~10³배 (CPU only)</vt:lpstr>
      <vt:lpstr>한계 및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80</cp:revision>
  <dcterms:created xsi:type="dcterms:W3CDTF">2026-08-14T09:14:06Z</dcterms:created>
  <dcterms:modified xsi:type="dcterms:W3CDTF">2026-08-15T07:50:48Z</dcterms:modified>
</cp:coreProperties>
</file>
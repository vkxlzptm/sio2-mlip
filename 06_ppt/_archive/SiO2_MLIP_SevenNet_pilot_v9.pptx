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BC6C"/>
    <a:srgbClr val="D7292A"/>
    <a:srgbClr val="267B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483"/>
    <p:restoredTop sz="95574"/>
  </p:normalViewPr>
  <p:slideViewPr>
    <p:cSldViewPr snapToGrid="0">
      <p:cViewPr varScale="1">
        <p:scale>
          <a:sx n="101" d="100"/>
          <a:sy n="101" d="100"/>
        </p:scale>
        <p:origin x="2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91F33-CBB4-A247-B7D0-A64F2A07719C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29E76A-B312-9048-804C-9F3C0A3437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16445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! Si-O </a:t>
            </a:r>
            <a:r>
              <a:rPr lang="ko-KR" altLang="en-US" dirty="0"/>
              <a:t>길이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7net = AIMD </a:t>
            </a:r>
            <a:r>
              <a:rPr lang="ko-KR" altLang="en-US" dirty="0"/>
              <a:t>사실상 일치 </a:t>
            </a:r>
            <a:r>
              <a:rPr lang="en-US" altLang="ko-KR" dirty="0"/>
              <a:t>(resolution </a:t>
            </a:r>
            <a:r>
              <a:rPr lang="ko-KR" altLang="en-US" dirty="0"/>
              <a:t>한계 내에서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! </a:t>
            </a:r>
            <a:r>
              <a:rPr dirty="0"/>
              <a:t>Si–O–Si </a:t>
            </a:r>
            <a:r>
              <a:rPr dirty="0" err="1"/>
              <a:t>차이의</a:t>
            </a:r>
            <a:r>
              <a:rPr dirty="0"/>
              <a:t> </a:t>
            </a:r>
            <a:r>
              <a:rPr dirty="0" err="1"/>
              <a:t>근거</a:t>
            </a:r>
            <a:r>
              <a:rPr dirty="0"/>
              <a:t> (</a:t>
            </a:r>
            <a:r>
              <a:rPr dirty="0" err="1"/>
              <a:t>구두용</a:t>
            </a:r>
            <a:r>
              <a:rPr dirty="0"/>
              <a:t>, </a:t>
            </a:r>
            <a:r>
              <a:rPr dirty="0" err="1"/>
              <a:t>슬라이드에는</a:t>
            </a:r>
            <a:r>
              <a:rPr dirty="0"/>
              <a:t> </a:t>
            </a:r>
            <a:r>
              <a:rPr dirty="0" err="1"/>
              <a:t>넣지</a:t>
            </a:r>
            <a:r>
              <a:rPr dirty="0"/>
              <a:t> </a:t>
            </a:r>
            <a:r>
              <a:rPr dirty="0" err="1"/>
              <a:t>않음</a:t>
            </a:r>
            <a:r>
              <a:rPr dirty="0"/>
              <a:t>)</a:t>
            </a:r>
          </a:p>
          <a:p>
            <a:r>
              <a:rPr dirty="0"/>
              <a:t>· AIMD </a:t>
            </a:r>
            <a:r>
              <a:rPr dirty="0" err="1"/>
              <a:t>고리</a:t>
            </a:r>
            <a:r>
              <a:rPr dirty="0"/>
              <a:t> </a:t>
            </a:r>
            <a:r>
              <a:rPr dirty="0" err="1"/>
              <a:t>분포는</a:t>
            </a:r>
            <a:r>
              <a:rPr dirty="0"/>
              <a:t> </a:t>
            </a:r>
            <a:r>
              <a:rPr dirty="0" err="1"/>
              <a:t>양쪽으로</a:t>
            </a:r>
            <a:r>
              <a:rPr dirty="0"/>
              <a:t> </a:t>
            </a:r>
            <a:r>
              <a:rPr dirty="0" err="1"/>
              <a:t>넓다</a:t>
            </a:r>
            <a:r>
              <a:rPr dirty="0"/>
              <a:t> — 4-고리 16.3 % vs </a:t>
            </a:r>
            <a:r>
              <a:rPr dirty="0" err="1"/>
              <a:t>우리</a:t>
            </a:r>
            <a:r>
              <a:rPr dirty="0"/>
              <a:t> 10.2 %, 7-고리 22.8 % vs </a:t>
            </a:r>
            <a:r>
              <a:rPr dirty="0" err="1"/>
              <a:t>우리</a:t>
            </a:r>
            <a:r>
              <a:rPr dirty="0"/>
              <a:t> 18.5 %, </a:t>
            </a:r>
            <a:r>
              <a:rPr dirty="0" err="1"/>
              <a:t>σ</a:t>
            </a:r>
            <a:r>
              <a:rPr dirty="0"/>
              <a:t> 1.14 vs 1.06.</a:t>
            </a:r>
          </a:p>
          <a:p>
            <a:r>
              <a:rPr dirty="0"/>
              <a:t>· </a:t>
            </a:r>
            <a:r>
              <a:rPr dirty="0" err="1"/>
              <a:t>작은</a:t>
            </a:r>
            <a:r>
              <a:rPr dirty="0"/>
              <a:t> </a:t>
            </a:r>
            <a:r>
              <a:rPr dirty="0" err="1"/>
              <a:t>고리는</a:t>
            </a:r>
            <a:r>
              <a:rPr dirty="0"/>
              <a:t> Si–O–</a:t>
            </a:r>
            <a:r>
              <a:rPr dirty="0" err="1"/>
              <a:t>Si를</a:t>
            </a:r>
            <a:r>
              <a:rPr dirty="0"/>
              <a:t> </a:t>
            </a:r>
            <a:r>
              <a:rPr dirty="0" err="1"/>
              <a:t>기하학적으로</a:t>
            </a:r>
            <a:r>
              <a:rPr dirty="0"/>
              <a:t> </a:t>
            </a:r>
            <a:r>
              <a:rPr dirty="0" err="1"/>
              <a:t>좁히지만</a:t>
            </a:r>
            <a:r>
              <a:rPr dirty="0"/>
              <a:t> </a:t>
            </a:r>
            <a:r>
              <a:rPr dirty="0" err="1"/>
              <a:t>큰</a:t>
            </a:r>
            <a:r>
              <a:rPr dirty="0"/>
              <a:t> </a:t>
            </a:r>
            <a:r>
              <a:rPr dirty="0" err="1"/>
              <a:t>고리는</a:t>
            </a:r>
            <a:r>
              <a:rPr dirty="0"/>
              <a:t> </a:t>
            </a:r>
            <a:r>
              <a:rPr dirty="0" err="1"/>
              <a:t>포화하므로</a:t>
            </a:r>
            <a:r>
              <a:rPr dirty="0"/>
              <a:t>, </a:t>
            </a:r>
            <a:r>
              <a:rPr dirty="0" err="1"/>
              <a:t>순효과는</a:t>
            </a:r>
            <a:r>
              <a:rPr dirty="0"/>
              <a:t> </a:t>
            </a:r>
            <a:r>
              <a:rPr dirty="0" err="1"/>
              <a:t>평균각을</a:t>
            </a:r>
            <a:r>
              <a:rPr dirty="0"/>
              <a:t> </a:t>
            </a:r>
            <a:r>
              <a:rPr dirty="0" err="1"/>
              <a:t>낮추는</a:t>
            </a:r>
            <a:r>
              <a:rPr dirty="0"/>
              <a:t> </a:t>
            </a:r>
            <a:r>
              <a:rPr dirty="0" err="1"/>
              <a:t>쪽</a:t>
            </a:r>
            <a:r>
              <a:rPr dirty="0"/>
              <a:t>(</a:t>
            </a:r>
            <a:r>
              <a:rPr dirty="0" err="1"/>
              <a:t>평균</a:t>
            </a:r>
            <a:r>
              <a:rPr dirty="0"/>
              <a:t> </a:t>
            </a:r>
            <a:r>
              <a:rPr dirty="0" err="1"/>
              <a:t>고리</a:t>
            </a:r>
            <a:r>
              <a:rPr dirty="0"/>
              <a:t> 5.73 vs 5.79).</a:t>
            </a:r>
          </a:p>
          <a:p>
            <a:r>
              <a:rPr dirty="0"/>
              <a:t>· </a:t>
            </a:r>
            <a:r>
              <a:rPr dirty="0" err="1"/>
              <a:t>다만</a:t>
            </a:r>
            <a:r>
              <a:rPr dirty="0"/>
              <a:t> </a:t>
            </a:r>
            <a:r>
              <a:rPr dirty="0" err="1"/>
              <a:t>고리</a:t>
            </a:r>
            <a:r>
              <a:rPr dirty="0"/>
              <a:t> </a:t>
            </a:r>
            <a:r>
              <a:rPr dirty="0" err="1"/>
              <a:t>통계만으로</a:t>
            </a:r>
            <a:r>
              <a:rPr dirty="0"/>
              <a:t> 6.5° </a:t>
            </a:r>
            <a:r>
              <a:rPr dirty="0" err="1"/>
              <a:t>차이를</a:t>
            </a:r>
            <a:r>
              <a:rPr dirty="0"/>
              <a:t> </a:t>
            </a:r>
            <a:r>
              <a:rPr dirty="0" err="1"/>
              <a:t>정량</a:t>
            </a:r>
            <a:r>
              <a:rPr dirty="0"/>
              <a:t> </a:t>
            </a:r>
            <a:r>
              <a:rPr dirty="0" err="1"/>
              <a:t>설명하지는</a:t>
            </a:r>
            <a:r>
              <a:rPr dirty="0"/>
              <a:t> </a:t>
            </a:r>
            <a:r>
              <a:rPr dirty="0" err="1"/>
              <a:t>못한다</a:t>
            </a:r>
            <a:r>
              <a:rPr dirty="0"/>
              <a:t>. </a:t>
            </a:r>
            <a:r>
              <a:rPr dirty="0" err="1"/>
              <a:t>우리</a:t>
            </a:r>
            <a:r>
              <a:rPr dirty="0"/>
              <a:t> </a:t>
            </a:r>
            <a:r>
              <a:rPr dirty="0" err="1"/>
              <a:t>구조는</a:t>
            </a:r>
            <a:r>
              <a:rPr dirty="0"/>
              <a:t> BKS </a:t>
            </a:r>
            <a:r>
              <a:rPr dirty="0" err="1"/>
              <a:t>위상</a:t>
            </a:r>
            <a:r>
              <a:rPr dirty="0"/>
              <a:t> + 7net </a:t>
            </a:r>
            <a:r>
              <a:rPr dirty="0" err="1"/>
              <a:t>국소</a:t>
            </a:r>
            <a:r>
              <a:rPr dirty="0"/>
              <a:t> </a:t>
            </a:r>
            <a:r>
              <a:rPr dirty="0" err="1"/>
              <a:t>물리</a:t>
            </a:r>
            <a:r>
              <a:rPr dirty="0"/>
              <a:t>, </a:t>
            </a:r>
            <a:r>
              <a:rPr dirty="0" err="1"/>
              <a:t>참조는</a:t>
            </a:r>
            <a:r>
              <a:rPr dirty="0"/>
              <a:t> </a:t>
            </a:r>
            <a:r>
              <a:rPr dirty="0" err="1"/>
              <a:t>자체</a:t>
            </a:r>
            <a:r>
              <a:rPr dirty="0"/>
              <a:t> AIMD </a:t>
            </a:r>
            <a:r>
              <a:rPr dirty="0" err="1"/>
              <a:t>위상</a:t>
            </a:r>
            <a:r>
              <a:rPr dirty="0"/>
              <a:t> + PBE — </a:t>
            </a:r>
            <a:r>
              <a:rPr dirty="0" err="1"/>
              <a:t>위상과</a:t>
            </a:r>
            <a:r>
              <a:rPr dirty="0"/>
              <a:t> </a:t>
            </a:r>
            <a:r>
              <a:rPr dirty="0" err="1"/>
              <a:t>범함수가</a:t>
            </a:r>
            <a:r>
              <a:rPr dirty="0"/>
              <a:t> </a:t>
            </a:r>
            <a:r>
              <a:rPr dirty="0" err="1"/>
              <a:t>동시에</a:t>
            </a:r>
            <a:r>
              <a:rPr dirty="0"/>
              <a:t> </a:t>
            </a:r>
            <a:r>
              <a:rPr dirty="0" err="1"/>
              <a:t>다르다</a:t>
            </a:r>
            <a:r>
              <a:rPr dirty="0"/>
              <a:t>.</a:t>
            </a:r>
          </a:p>
          <a:p>
            <a:r>
              <a:rPr dirty="0"/>
              <a:t>· </a:t>
            </a:r>
            <a:r>
              <a:rPr dirty="0" err="1"/>
              <a:t>상세는</a:t>
            </a:r>
            <a:r>
              <a:rPr dirty="0"/>
              <a:t> </a:t>
            </a:r>
            <a:r>
              <a:rPr dirty="0" err="1"/>
              <a:t>RESULTS.md</a:t>
            </a:r>
            <a:r>
              <a:rPr dirty="0"/>
              <a:t> §5.</a:t>
            </a:r>
            <a:endParaRPr lang="en-US" dirty="0"/>
          </a:p>
          <a:p>
            <a:endParaRPr lang="en-US" dirty="0"/>
          </a:p>
          <a:p>
            <a:endParaRPr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9E76A-B312-9048-804C-9F3C0A3437AD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6540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37744" indent="-237744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endParaRPr lang="en-US" altLang="ko-KR" sz="120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eaLnBrk="0" latinLnBrk="0" hangingPunct="0">
              <a:lnSpc>
                <a:spcPct val="130000"/>
              </a:lnSpc>
              <a:spcAft>
                <a:spcPts val="600"/>
              </a:spcAft>
            </a:pPr>
            <a:endParaRPr lang="en-US" altLang="ko-KR" sz="120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lang="en-US" altLang="ko-KR" sz="12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q</a:t>
            </a:r>
            <a:r>
              <a:rPr lang="en-US" altLang="ko-KR" sz="1200" b="0" i="0" baseline="-2500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</a:t>
            </a:r>
            <a:r>
              <a:rPr lang="ko-KR" altLang="en-US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는 중거리 주기성</a:t>
            </a:r>
            <a:r>
              <a:rPr lang="en-US" altLang="ko-KR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(2</a:t>
            </a:r>
            <a:r>
              <a:rPr lang="el-GR" altLang="ko-KR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π/</a:t>
            </a:r>
            <a:r>
              <a:rPr lang="en-US" altLang="ko-KR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q)</a:t>
            </a:r>
            <a:r>
              <a:rPr lang="ko-KR" altLang="en-US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의 역수 → 망의 위상이 지배</a:t>
            </a:r>
            <a:r>
              <a:rPr lang="ko-KR" altLang="en-US" sz="1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— FSDP </a:t>
            </a:r>
            <a:r>
              <a:rPr lang="ko-KR" altLang="en-US" sz="1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위치는 불변</a:t>
            </a:r>
            <a:endParaRPr lang="ko-KR" altLang="en-US" sz="12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lang="ko-KR" altLang="en-US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실공간과 독립된 경로에서 같은 결론</a:t>
            </a:r>
            <a:r>
              <a:rPr lang="en-US" altLang="ko-KR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</a:t>
            </a:r>
            <a:r>
              <a:rPr lang="ko-KR" altLang="en-US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위상은 불변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9E76A-B312-9048-804C-9F3C0A3437AD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83040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9E76A-B312-9048-804C-9F3C0A3437AD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27218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MSD </a:t>
            </a:r>
            <a:r>
              <a:rPr kumimoji="1" lang="ko-KR" altLang="en-US" dirty="0"/>
              <a:t>왜 </a:t>
            </a:r>
            <a:r>
              <a:rPr kumimoji="1" lang="ko-KR" altLang="en-US" dirty="0" err="1"/>
              <a:t>써놓음</a:t>
            </a:r>
            <a:r>
              <a:rPr kumimoji="1" lang="en-US" altLang="ko-KR" dirty="0"/>
              <a:t>?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다 같은 </a:t>
            </a:r>
            <a:r>
              <a:rPr kumimoji="1" lang="ko-KR" altLang="en-US" dirty="0" err="1"/>
              <a:t>불렛으로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섞여있는데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섹션으로</a:t>
            </a:r>
            <a:r>
              <a:rPr kumimoji="1" lang="ko-KR" altLang="en-US" dirty="0"/>
              <a:t> 나눠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br>
              <a:rPr kumimoji="1" lang="en-US" altLang="ko-KR" dirty="0"/>
            </a:b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9E76A-B312-9048-804C-9F3C0A3437AD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5279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Q.</a:t>
            </a:r>
            <a:r>
              <a:rPr kumimoji="1" lang="ko-KR" altLang="en-US" dirty="0"/>
              <a:t> </a:t>
            </a:r>
            <a:r>
              <a:rPr kumimoji="1" lang="en-US" altLang="ko-KR" dirty="0"/>
              <a:t>FSDP </a:t>
            </a:r>
            <a:r>
              <a:rPr kumimoji="1" lang="ko-KR" altLang="en-US" dirty="0"/>
              <a:t>추출 </a:t>
            </a:r>
            <a:r>
              <a:rPr kumimoji="1" lang="en-US" altLang="ko-KR" dirty="0"/>
              <a:t>-</a:t>
            </a:r>
            <a:r>
              <a:rPr kumimoji="1" lang="ko-KR" altLang="en-US" dirty="0"/>
              <a:t> </a:t>
            </a:r>
            <a:r>
              <a:rPr kumimoji="1" lang="en-US" altLang="ko-KR" dirty="0"/>
              <a:t>‘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최댓값은 잡음에 상향 편향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’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200" b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무슨말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?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노이즈 길 때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‘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최댓값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’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이라고 재면 노이즈에 오염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편향 생기는 문제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.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노이즈가 클 수록 더 큰 편향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.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9E76A-B312-9048-804C-9F3C0A3437AD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0142171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898017"/>
            <a:ext cx="9144000" cy="2700594"/>
          </a:xfrm>
        </p:spPr>
        <p:txBody>
          <a:bodyPr anchor="b">
            <a:normAutofit/>
          </a:bodyPr>
          <a:lstStyle>
            <a:lvl1pPr algn="ctr">
              <a:defRPr sz="4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1524000" y="3908320"/>
            <a:ext cx="9144000" cy="2271063"/>
          </a:xfrm>
        </p:spPr>
        <p:txBody>
          <a:bodyPr>
            <a:normAutofit/>
          </a:bodyPr>
          <a:lstStyle>
            <a:lvl1pPr marL="0" indent="0" algn="ctr">
              <a:buNone/>
              <a:defRPr sz="21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ko-KR" altLang="en-US"/>
          </a:p>
        </p:txBody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5ECF5E78-1C30-DEFB-F2F4-CB18884819D0}"/>
              </a:ext>
            </a:extLst>
          </p:cNvPr>
          <p:cNvCxnSpPr>
            <a:cxnSpLocks/>
          </p:cNvCxnSpPr>
          <p:nvPr/>
        </p:nvCxnSpPr>
        <p:spPr>
          <a:xfrm>
            <a:off x="437881" y="3775587"/>
            <a:ext cx="1123037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911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latinLnBrk="0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ko-KR" dirty="0"/>
              <a:t> </a:t>
            </a:r>
            <a:r>
              <a:rPr kumimoji="1" lang="ko-KR" altLang="en-US" dirty="0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536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20000" y="5742879"/>
            <a:ext cx="10633800" cy="698559"/>
          </a:xfrm>
        </p:spPr>
        <p:txBody>
          <a:bodyPr>
            <a:normAutofit/>
          </a:bodyPr>
          <a:lstStyle>
            <a:lvl1pPr latinLnBrk="0">
              <a:defRPr sz="2200"/>
            </a:lvl1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6767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1" y="1709749"/>
            <a:ext cx="10515600" cy="2799720"/>
          </a:xfrm>
        </p:spPr>
        <p:txBody>
          <a:bodyPr anchor="b">
            <a:normAutofit/>
          </a:bodyPr>
          <a:lstStyle>
            <a:lvl1pPr latinLnBrk="0"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1" y="458947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cxnSp>
        <p:nvCxnSpPr>
          <p:cNvPr id="7" name="직선 연결선[R] 6"/>
          <p:cNvCxnSpPr/>
          <p:nvPr/>
        </p:nvCxnSpPr>
        <p:spPr>
          <a:xfrm>
            <a:off x="831851" y="4509468"/>
            <a:ext cx="10515600" cy="0"/>
          </a:xfrm>
          <a:prstGeom prst="line">
            <a:avLst/>
          </a:prstGeom>
          <a:ln w="66675" cmpd="dbl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88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00813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553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66460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백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6897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72232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kumimoji="1"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10577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43159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87939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preserve="1">
  <p:cSld name="2_제목 및 내용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 txBox="1">
            <a:spLocks noGrp="1"/>
          </p:cNvSpPr>
          <p:nvPr>
            <p:ph type="body" idx="1"/>
          </p:nvPr>
        </p:nvSpPr>
        <p:spPr>
          <a:xfrm>
            <a:off x="720000" y="4935691"/>
            <a:ext cx="10633800" cy="1517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15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charset="2"/>
              <a:buChar char="ü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lvl="1" indent="-266700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/>
            </a:lvl2pPr>
            <a:lvl3pPr marL="1028700" lvl="2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 panose="02070309020205020404" pitchFamily="49" charset="0"/>
              <a:buChar char="o"/>
              <a:defRPr/>
            </a:lvl3pPr>
            <a:lvl4pPr marL="1371600" lvl="3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marL="1714500" lvl="4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marL="2057400" lvl="5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7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11ED3F7-D977-4046-97E6-A3D7881A4583}" type="datetime1">
              <a:rPr kumimoji="1" lang="ko-KR" altLang="en-US" smtClean="0"/>
              <a:t>2026. 8. 16.</a:t>
            </a:fld>
            <a:endParaRPr kumimoji="1" lang="ko-KR" altLang="en-US" dirty="0"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7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kumimoji="1" lang="ko-KR" altLang="en-US" dirty="0"/>
          </a:p>
        </p:txBody>
      </p:sp>
      <p:sp>
        <p:nvSpPr>
          <p:cNvPr id="35" name="Google Shape;35;p25"/>
          <p:cNvSpPr txBox="1">
            <a:spLocks noGrp="1"/>
          </p:cNvSpPr>
          <p:nvPr>
            <p:ph type="title"/>
          </p:nvPr>
        </p:nvSpPr>
        <p:spPr>
          <a:xfrm>
            <a:off x="480000" y="29233"/>
            <a:ext cx="11520000" cy="866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cxnSp>
        <p:nvCxnSpPr>
          <p:cNvPr id="36" name="Google Shape;36;p25"/>
          <p:cNvCxnSpPr/>
          <p:nvPr/>
        </p:nvCxnSpPr>
        <p:spPr>
          <a:xfrm>
            <a:off x="422991" y="933061"/>
            <a:ext cx="1125084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834311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DB0E099-CB03-03AC-26C3-7E13B1EC31BC}"/>
              </a:ext>
            </a:extLst>
          </p:cNvPr>
          <p:cNvSpPr>
            <a:spLocks/>
          </p:cNvSpPr>
          <p:nvPr/>
        </p:nvSpPr>
        <p:spPr>
          <a:xfrm>
            <a:off x="0" y="6529591"/>
            <a:ext cx="12192000" cy="337078"/>
          </a:xfrm>
          <a:prstGeom prst="rect">
            <a:avLst/>
          </a:prstGeom>
          <a:gradFill>
            <a:gsLst>
              <a:gs pos="0">
                <a:schemeClr val="accent1"/>
              </a:gs>
              <a:gs pos="3000">
                <a:schemeClr val="accent1">
                  <a:satMod val="103000"/>
                  <a:tint val="94000"/>
                  <a:alpha val="70000"/>
                  <a:lumMod val="80000"/>
                  <a:lumOff val="20000"/>
                </a:schemeClr>
              </a:gs>
              <a:gs pos="50000">
                <a:srgbClr val="00BC16">
                  <a:alpha val="60000"/>
                </a:srgbClr>
              </a:gs>
              <a:gs pos="100000">
                <a:schemeClr val="accent1">
                  <a:satMod val="120000"/>
                  <a:shade val="78000"/>
                  <a:alpha val="70000"/>
                  <a:lumMod val="90000"/>
                </a:schemeClr>
              </a:gs>
            </a:gsLst>
          </a:gradFill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350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90719" y="29233"/>
            <a:ext cx="11298562" cy="86651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endParaRPr kumimoji="1"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0000" y="1105205"/>
            <a:ext cx="10633800" cy="5096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ko-KR" dirty="0"/>
              <a:t> </a:t>
            </a:r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en-US" altLang="ko-KR" dirty="0"/>
              <a:t> </a:t>
            </a:r>
            <a:r>
              <a:rPr kumimoji="1" lang="ko-KR" altLang="en-US" dirty="0"/>
              <a:t>두 번째 수준</a:t>
            </a:r>
          </a:p>
          <a:p>
            <a:pPr lvl="2"/>
            <a:r>
              <a:rPr kumimoji="1" lang="en-US" altLang="ko-KR" dirty="0"/>
              <a:t> </a:t>
            </a:r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6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2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2026. 8. 16.</a:t>
            </a:fld>
            <a:endParaRPr kumimoji="1" lang="ko-KR" altLang="en-US"/>
          </a:p>
        </p:txBody>
      </p:sp>
      <p:cxnSp>
        <p:nvCxnSpPr>
          <p:cNvPr id="11" name="직선 연결선[R] 10"/>
          <p:cNvCxnSpPr/>
          <p:nvPr/>
        </p:nvCxnSpPr>
        <p:spPr>
          <a:xfrm>
            <a:off x="422991" y="875911"/>
            <a:ext cx="1125084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7"/>
          <p:cNvSpPr txBox="1">
            <a:spLocks/>
          </p:cNvSpPr>
          <p:nvPr/>
        </p:nvSpPr>
        <p:spPr>
          <a:xfrm>
            <a:off x="10784467" y="6512242"/>
            <a:ext cx="1407532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10C2363-CD13-5E42-92B2-063CBE42B11F}" type="slidenum">
              <a:rPr kumimoji="1" lang="ko-KR" altLang="en-US" sz="1050" smtClean="0">
                <a:solidFill>
                  <a:schemeClr val="tx1"/>
                </a:solidFill>
              </a:rPr>
              <a:pPr/>
              <a:t>‹#›</a:t>
            </a:fld>
            <a:r>
              <a:rPr kumimoji="1" lang="ko-KR" altLang="en-US" sz="1050" dirty="0">
                <a:solidFill>
                  <a:schemeClr val="tx1"/>
                </a:solidFill>
              </a:rPr>
              <a:t> </a:t>
            </a:r>
            <a:r>
              <a:rPr kumimoji="1" lang="en-US" altLang="ko-KR" sz="1050" dirty="0">
                <a:solidFill>
                  <a:schemeClr val="tx1"/>
                </a:solidFill>
              </a:rPr>
              <a:t>/ 7</a:t>
            </a:r>
            <a:endParaRPr kumimoji="1" lang="ko-KR" altLang="en-US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39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7175" indent="-257175" algn="l" defTabSz="514350" rtl="0" eaLnBrk="1" latinLnBrk="1" hangingPunct="1">
        <a:lnSpc>
          <a:spcPct val="150000"/>
        </a:lnSpc>
        <a:spcBef>
          <a:spcPts val="563"/>
        </a:spcBef>
        <a:buFont typeface="Wingdings" charset="2"/>
        <a:buChar char="ü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71488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28663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85838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243013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3598F-4E3F-3EE3-C305-D03F2D14C7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marL="0" indent="0" eaLnBrk="0" latinLnBrk="0" hangingPunct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Universal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MLIP의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a-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SiO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₂ 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적용</a:t>
            </a:r>
            <a:endParaRPr kumimoji="1" lang="ko-KR" altLang="en-US" dirty="0"/>
          </a:p>
          <a:p>
            <a:pPr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SevenNet</a:t>
            </a:r>
            <a:r>
              <a:rPr sz="4000" b="1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-Nano </a:t>
            </a:r>
            <a:r>
              <a:rPr sz="4000" b="1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파일럿</a:t>
            </a:r>
            <a:r>
              <a:rPr lang="ko-KR" altLang="en-US" sz="4000" b="1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스터디</a:t>
            </a:r>
            <a:endParaRPr sz="4000" b="1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E34F782-153B-88AE-86E5-E64654A9FE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>
            <a:noAutofit/>
          </a:bodyPr>
          <a:lstStyle/>
          <a:p>
            <a:pPr marL="0" indent="0" eaLnBrk="0" latinLnBrk="0" hangingPunct="0">
              <a:lnSpc>
                <a:spcPct val="130000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rPr sz="2600" b="0" i="0" dirty="0">
                <a:solidFill>
                  <a:srgbClr val="262626"/>
                </a:solidFill>
                <a:ea typeface="맑은 고딕"/>
              </a:rPr>
              <a:t>BKS · 7net-Nano-4.5 · AIMD(PBE) · </a:t>
            </a:r>
            <a:r>
              <a:rPr sz="2600" b="0" i="0" dirty="0" err="1">
                <a:solidFill>
                  <a:srgbClr val="262626"/>
                </a:solidFill>
                <a:ea typeface="맑은 고딕"/>
              </a:rPr>
              <a:t>실험</a:t>
            </a:r>
            <a:r>
              <a:rPr sz="2600" b="0" i="0" dirty="0">
                <a:solidFill>
                  <a:srgbClr val="262626"/>
                </a:solidFill>
                <a:ea typeface="맑은 고딕"/>
              </a:rPr>
              <a:t> </a:t>
            </a:r>
            <a:r>
              <a:rPr sz="2600" b="0" i="0" dirty="0" err="1">
                <a:solidFill>
                  <a:srgbClr val="262626"/>
                </a:solidFill>
                <a:ea typeface="맑은 고딕"/>
              </a:rPr>
              <a:t>비교</a:t>
            </a:r>
            <a:endParaRPr kumimoji="1" lang="ko-KR" altLang="en-US" sz="2600" dirty="0"/>
          </a:p>
          <a:p>
            <a:pPr marL="0" indent="0" eaLnBrk="0" latinLnBrk="0" hangingPunct="0">
              <a:lnSpc>
                <a:spcPct val="130000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rPr sz="2600" b="0" i="0" dirty="0">
                <a:ea typeface="맑은 고딕"/>
              </a:rPr>
              <a:t>2026</a:t>
            </a:r>
            <a:r>
              <a:rPr lang="en-US" sz="2600" b="0" i="0" dirty="0">
                <a:ea typeface="맑은 고딕"/>
              </a:rPr>
              <a:t>. </a:t>
            </a:r>
            <a:r>
              <a:rPr sz="2600" b="0" i="0" dirty="0">
                <a:ea typeface="맑은 고딕"/>
              </a:rPr>
              <a:t>08</a:t>
            </a:r>
            <a:r>
              <a:rPr lang="en-US" sz="2600" b="0" i="0" dirty="0">
                <a:ea typeface="맑은 고딕"/>
              </a:rPr>
              <a:t>. </a:t>
            </a:r>
            <a:r>
              <a:rPr sz="2600" b="0" i="0" dirty="0">
                <a:ea typeface="맑은 고딕"/>
              </a:rPr>
              <a:t>1</a:t>
            </a:r>
            <a:r>
              <a:rPr lang="en-US" altLang="ko-KR" sz="2600" dirty="0">
                <a:ea typeface="맑은 고딕"/>
              </a:rPr>
              <a:t>6</a:t>
            </a:r>
            <a:r>
              <a:rPr lang="ko-KR" altLang="en-US" sz="2600" b="0" i="0" dirty="0">
                <a:ea typeface="맑은 고딕"/>
              </a:rPr>
              <a:t> </a:t>
            </a:r>
            <a:endParaRPr lang="en-US" altLang="ko-KR" sz="2600" b="0" i="0" dirty="0">
              <a:ea typeface="맑은 고딕"/>
            </a:endParaRPr>
          </a:p>
          <a:p>
            <a:pPr marL="0" indent="0" eaLnBrk="0" latinLnBrk="0" hangingPunct="0">
              <a:lnSpc>
                <a:spcPct val="130000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rPr lang="ko-KR" altLang="en-US" sz="2600" b="0" i="0" dirty="0">
                <a:ea typeface="맑은 고딕"/>
              </a:rPr>
              <a:t>이동현 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1686" y="5687568"/>
            <a:ext cx="1691640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63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실공간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구조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—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결합길이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·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결합각</a:t>
            </a:r>
            <a:endParaRPr sz="3200" b="0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5108" y="4168688"/>
            <a:ext cx="5368399" cy="2276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0" latinLnBrk="0" hangingPunct="0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[ Bond Length ]</a:t>
            </a:r>
          </a:p>
          <a:p>
            <a:pPr marL="285750" indent="-285750" algn="l" eaLnBrk="0" latinLnBrk="0" hangingPunct="0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Font typeface="Wingdings" pitchFamily="2" charset="2"/>
              <a:buChar char="ü"/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7net-Nano-4.5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: 7net-Omni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mpa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증류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= PBE(+U)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학습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PBE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의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underbinding</a:t>
            </a: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경향 상속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됨 </a:t>
            </a:r>
            <a:b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Si–O (1.635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Å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실험 1.61 Å 대비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+1.6% </a:t>
            </a:r>
            <a:b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AIMD (1.630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</a:rPr>
              <a:t>Å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와 사실상 일치</a:t>
            </a: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 eaLnBrk="0" latinLnBrk="0" hangingPunct="0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Font typeface="Wingdings" pitchFamily="2" charset="2"/>
              <a:buChar char="ü"/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MLIP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정확도 상한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학습 </a:t>
            </a:r>
            <a:r>
              <a:rPr lang="ko-KR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범함수</a:t>
            </a:r>
            <a:endParaRPr sz="1600" i="0" dirty="0">
              <a:solidFill>
                <a:srgbClr val="262626"/>
              </a:solidFill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169776"/>
              </p:ext>
            </p:extLst>
          </p:nvPr>
        </p:nvGraphicFramePr>
        <p:xfrm>
          <a:off x="431945" y="1256047"/>
          <a:ext cx="5100175" cy="20560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97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3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93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64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3795">
                <a:tc rowSpan="2"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73152" marR="73152" marT="13716" marB="13716" anchor="ctr">
                    <a:solidFill>
                      <a:srgbClr val="1F7A3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Bond length (</a:t>
                      </a:r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1" i="0" dirty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)</a:t>
                      </a:r>
                    </a:p>
                  </a:txBody>
                  <a:tcPr marL="73152" marR="73152" marT="13716" marB="13716" anchor="ctr">
                    <a:solidFill>
                      <a:srgbClr val="1F7A33"/>
                    </a:solidFill>
                  </a:tcPr>
                </a:tc>
                <a:tc hMerge="1">
                  <a:txBody>
                    <a:bodyPr/>
                    <a:lstStyle/>
                    <a:p>
                      <a:pPr eaLnBrk="0" latinLnBrk="0" hangingPunct="0">
                        <a:lnSpc>
                          <a:spcPct val="130000"/>
                        </a:lnSpc>
                      </a:pPr>
                      <a:endParaRPr/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 hMerge="1">
                  <a:txBody>
                    <a:bodyPr/>
                    <a:lstStyle/>
                    <a:p>
                      <a:pPr eaLnBrk="0" latinLnBrk="0" hangingPunct="0">
                        <a:lnSpc>
                          <a:spcPct val="130000"/>
                        </a:lnSpc>
                      </a:pPr>
                      <a:endParaRPr/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Average bond angle (°)</a:t>
                      </a:r>
                    </a:p>
                  </a:txBody>
                  <a:tcPr marL="73152" marR="73152" marT="13716" marB="13716" anchor="ctr">
                    <a:solidFill>
                      <a:srgbClr val="1F7A33"/>
                    </a:solidFill>
                  </a:tcPr>
                </a:tc>
                <a:tc hMerge="1">
                  <a:txBody>
                    <a:bodyPr/>
                    <a:lstStyle/>
                    <a:p>
                      <a:pPr eaLnBrk="0" latinLnBrk="0" hangingPunct="0">
                        <a:lnSpc>
                          <a:spcPct val="130000"/>
                        </a:lnSpc>
                      </a:pPr>
                      <a:endParaRPr/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460">
                <a:tc vMerge="1"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Si–O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O–O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Si–Si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O–Si–O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Si–O–Si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546367"/>
                  </a:ext>
                </a:extLst>
              </a:tr>
              <a:tr h="322460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expt.</a:t>
                      </a:r>
                      <a:r>
                        <a:rPr sz="1200" b="0" i="0" baseline="3000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[2][3]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1.61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2.63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3.08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109.4–109.7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140–150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60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BKS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1.605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2.605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3.155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109.38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151.89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60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Arial"/>
                        </a:rPr>
                        <a:t>7net-Nano-4.5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Arial"/>
                        </a:rPr>
                        <a:t>1.635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Arial"/>
                        </a:rPr>
                        <a:t>2.655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Arial"/>
                        </a:rPr>
                        <a:t>3.135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Arial"/>
                        </a:rPr>
                        <a:t>109.41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 dirty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Arial"/>
                        </a:rPr>
                        <a:t>145.05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460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AIMD PBE</a:t>
                      </a:r>
                      <a:r>
                        <a:rPr sz="1200" b="0" i="0" baseline="3000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[1]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1.630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2.670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3.030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109.47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138.65</a:t>
                      </a:r>
                    </a:p>
                  </a:txBody>
                  <a:tcPr marL="73152" marR="73152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95300" y="3321330"/>
            <a:ext cx="5006945" cy="7486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eaLnBrk="0" latinLnBrk="0" hangingPunct="0">
              <a:lnSpc>
                <a:spcPct val="150000"/>
              </a:lnSpc>
              <a:spcAft>
                <a:spcPts val="0"/>
              </a:spcAft>
              <a:buNone/>
            </a:pPr>
            <a:r>
              <a:rPr sz="11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ρ = 2.20 g/cm³ · 300 K. </a:t>
            </a:r>
            <a:endParaRPr lang="en-US" sz="1050" b="0" dirty="0">
              <a:solidFill>
                <a:srgbClr val="7A7A7A"/>
              </a:solidFill>
              <a:latin typeface="Arial"/>
              <a:ea typeface="맑은 고딕"/>
              <a:cs typeface="Arial"/>
            </a:endParaRPr>
          </a:p>
          <a:p>
            <a:pPr marL="0" indent="0" eaLnBrk="0" latinLnBrk="0" hangingPunct="0"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11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Bond length</a:t>
            </a:r>
            <a:r>
              <a:rPr lang="ko-KR" altLang="en-US" sz="11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는 </a:t>
            </a:r>
            <a:r>
              <a:rPr lang="en-US" altLang="ko-KR" sz="11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g(r)</a:t>
            </a:r>
            <a:r>
              <a:rPr lang="ko-KR" altLang="en-US" sz="11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의 </a:t>
            </a:r>
            <a:r>
              <a:rPr lang="en-US" sz="11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1st peak</a:t>
            </a:r>
            <a:r>
              <a:rPr lang="ko-KR" altLang="en-US" sz="11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1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maximum</a:t>
            </a:r>
            <a:r>
              <a:rPr lang="ko-KR" altLang="en-US" sz="11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위치 </a:t>
            </a:r>
            <a:r>
              <a:rPr lang="en-US" altLang="ko-KR" sz="11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(bin 0.01 </a:t>
            </a:r>
            <a:r>
              <a:rPr lang="en-US" altLang="ko-KR" sz="110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Å</a:t>
            </a:r>
            <a:r>
              <a:rPr lang="en-US" altLang="ko-KR" sz="11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).</a:t>
            </a:r>
            <a:endParaRPr lang="en-US" sz="1050" b="0" dirty="0">
              <a:solidFill>
                <a:srgbClr val="7A7A7A"/>
              </a:solidFill>
              <a:latin typeface="Arial"/>
              <a:ea typeface="맑은 고딕"/>
              <a:cs typeface="Arial"/>
            </a:endParaRPr>
          </a:p>
          <a:p>
            <a:pPr marL="0" indent="0" eaLnBrk="0" latinLnBrk="0" hangingPunct="0">
              <a:lnSpc>
                <a:spcPct val="150000"/>
              </a:lnSpc>
              <a:spcAft>
                <a:spcPts val="0"/>
              </a:spcAft>
              <a:buNone/>
            </a:pPr>
            <a:r>
              <a:rPr sz="11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AIMD</a:t>
            </a:r>
            <a:r>
              <a:rPr sz="1100" b="0" baseline="300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[1]</a:t>
            </a:r>
            <a:r>
              <a:rPr lang="ko-KR" altLang="en-US" sz="11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은</a:t>
            </a:r>
            <a:r>
              <a:rPr sz="11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120원자 · </a:t>
            </a:r>
            <a:r>
              <a:rPr lang="en-US" sz="11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L = 12.2 </a:t>
            </a:r>
            <a:r>
              <a:rPr lang="en-US" sz="110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Å</a:t>
            </a:r>
            <a:r>
              <a:rPr lang="en-US" sz="11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· quench 5 </a:t>
            </a:r>
            <a:r>
              <a:rPr lang="en-US" sz="1100" b="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ps</a:t>
            </a:r>
            <a:r>
              <a:rPr lang="en-US" sz="1100" b="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≈ 4×10¹⁴ K</a:t>
            </a:r>
            <a:r>
              <a:rPr lang="en-US" sz="1100" b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/s</a:t>
            </a:r>
            <a:endParaRPr sz="1050" b="0" dirty="0">
              <a:solidFill>
                <a:srgbClr val="7A7A7A"/>
              </a:solidFill>
              <a:latin typeface="Arial"/>
              <a:ea typeface="맑은 고딕"/>
              <a:cs typeface="Arial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81745" y="920472"/>
            <a:ext cx="2659777" cy="38946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33268" y="6519481"/>
            <a:ext cx="8779267" cy="3075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[1] </a:t>
            </a:r>
            <a:r>
              <a:rPr lang="en-US" sz="105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G.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Dechant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et al., JPCC 130, 7148 (2026)   ·   [2]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A. C.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Wright, JNCS 179, 84 (1994)   ·   [3]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E.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Dupree &amp;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R. F.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Pettifer, Nature 308, 523 (1984)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rcRect t="6124"/>
          <a:stretch/>
        </p:blipFill>
        <p:spPr>
          <a:xfrm>
            <a:off x="5877355" y="920472"/>
            <a:ext cx="3271000" cy="401843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EE73C80-9914-EF34-85CD-468D8639E658}"/>
              </a:ext>
            </a:extLst>
          </p:cNvPr>
          <p:cNvSpPr txBox="1"/>
          <p:nvPr/>
        </p:nvSpPr>
        <p:spPr>
          <a:xfrm>
            <a:off x="5829242" y="4924232"/>
            <a:ext cx="6195118" cy="15663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eaLnBrk="0" latinLnBrk="0" hangingPunct="0">
              <a:lnSpc>
                <a:spcPct val="150000"/>
              </a:lnSpc>
              <a:spcAft>
                <a:spcPts val="100"/>
              </a:spcAft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[ Bond Angle ]</a:t>
            </a:r>
          </a:p>
          <a:p>
            <a:pPr marL="237744" indent="-237744" algn="l" eaLnBrk="0" latinLnBrk="0" hangingPunct="0">
              <a:lnSpc>
                <a:spcPct val="150000"/>
              </a:lnSpc>
              <a:spcAft>
                <a:spcPts val="1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Si–O–Si: </a:t>
            </a:r>
            <a:r>
              <a:rPr 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BKS 151.9°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→ </a:t>
            </a:r>
            <a:r>
              <a:rPr lang="en-US"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7net 145.1°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= </a:t>
            </a:r>
            <a:r>
              <a:rPr lang="ko-KR" altLang="en-US" sz="16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맑은 고딕"/>
                <a:cs typeface="Arial"/>
              </a:rPr>
              <a:t>실험 밴드 </a:t>
            </a:r>
            <a:r>
              <a:rPr lang="en-US" altLang="ko-KR" sz="16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맑은 고딕"/>
                <a:cs typeface="Arial"/>
              </a:rPr>
              <a:t>140–150°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내부</a:t>
            </a:r>
          </a:p>
          <a:p>
            <a:pPr marL="237744" indent="-237744" algn="l" eaLnBrk="0" latinLnBrk="0" hangingPunct="0">
              <a:lnSpc>
                <a:spcPct val="150000"/>
              </a:lnSpc>
              <a:spcAft>
                <a:spcPts val="1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6ABC6C"/>
                </a:solidFill>
                <a:latin typeface="Arial"/>
                <a:ea typeface="맑은 고딕"/>
                <a:cs typeface="Arial"/>
              </a:rPr>
              <a:t>AIMD 138.7°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는</a:t>
            </a:r>
            <a:r>
              <a:rPr lang="en-US" altLang="ko-KR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밴드 아래 →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이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조건의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값을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목표로 두지 않음 </a:t>
            </a:r>
            <a:b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— 조건 상이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셀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120원자 · quench 5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ps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(100배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급랭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 ·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망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위상</a:t>
            </a:r>
            <a:endParaRPr lang="ko-KR" altLang="en-US"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D48ABE-298C-D2D3-3199-F0B45145765F}"/>
              </a:ext>
            </a:extLst>
          </p:cNvPr>
          <p:cNvSpPr txBox="1"/>
          <p:nvPr/>
        </p:nvSpPr>
        <p:spPr>
          <a:xfrm>
            <a:off x="6475322" y="4753812"/>
            <a:ext cx="517434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eaLnBrk="0" latinLnBrk="0" hangingPunct="0">
              <a:lnSpc>
                <a:spcPct val="130000"/>
              </a:lnSpc>
            </a:pPr>
            <a:r>
              <a:rPr lang="ko-KR" altLang="en-US" sz="110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좌</a:t>
            </a:r>
            <a:r>
              <a:rPr lang="en-US" altLang="ko-KR" sz="110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: Partial Distribution Function	</a:t>
            </a:r>
            <a:r>
              <a:rPr lang="ko-KR" altLang="en-US" sz="110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우</a:t>
            </a:r>
            <a:r>
              <a:rPr lang="en-US" altLang="ko-KR" sz="110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:</a:t>
            </a:r>
            <a:r>
              <a:rPr lang="ko-KR" altLang="en-US" sz="110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10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Bond Angle Distribution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69963" y="4159518"/>
            <a:ext cx="10255251" cy="235624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0" latinLnBrk="0" hangingPunct="0">
              <a:lnSpc>
                <a:spcPct val="130000"/>
              </a:lnSpc>
              <a:spcAft>
                <a:spcPts val="600"/>
              </a:spcAft>
            </a:pPr>
            <a:r>
              <a:rPr lang="en-US" altLang="ko-KR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</a:t>
            </a:r>
            <a:r>
              <a:rPr lang="ko-KR" altLang="en-US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BKS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</a:t>
            </a:r>
            <a:r>
              <a:rPr lang="en-US" altLang="ko-KR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  <a:sym typeface="Wingdings" pitchFamily="2" charset="2"/>
              </a:rPr>
              <a:t> 7net </a:t>
            </a:r>
            <a:r>
              <a:rPr lang="ko-KR" altLang="en-US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  <a:sym typeface="Wingdings" pitchFamily="2" charset="2"/>
              </a:rPr>
              <a:t>변화</a:t>
            </a:r>
            <a:r>
              <a:rPr lang="ko-KR" altLang="en-US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]</a:t>
            </a:r>
            <a:endParaRPr lang="en-US" sz="1600" b="1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위치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1.593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→ </a:t>
            </a:r>
            <a:r>
              <a:rPr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1.590 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Å⁻¹ —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두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방법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간 실질적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차이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없음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실험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1.49 Å⁻¹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대비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+6.7%</a:t>
            </a:r>
            <a:endParaRPr lang="en-US"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 </a:t>
            </a:r>
            <a:r>
              <a:rPr lang="ko-KR" altLang="en-US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높이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1.462 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</a:t>
            </a:r>
            <a:r>
              <a:rPr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1.360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—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1.357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대비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BKS +7.8% → 7net +0.2%</a:t>
            </a:r>
          </a:p>
          <a:p>
            <a:pPr marL="237744" indent="-237744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q</a:t>
            </a:r>
            <a:r>
              <a:rPr lang="en-US" sz="1600" b="0" i="0" baseline="-2500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↔ </a:t>
            </a:r>
            <a:r>
              <a:rPr lang="ko-KR" alt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실공간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특성 길이 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d = 2</a:t>
            </a:r>
            <a:r>
              <a:rPr lang="el-G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π/</a:t>
            </a:r>
            <a:r>
              <a:rPr 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q</a:t>
            </a:r>
            <a:r>
              <a:rPr lang="en-US" sz="1600" baseline="-2500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≈ 3.95 </a:t>
            </a:r>
            <a:r>
              <a:rPr 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Å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(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실험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4.21 </a:t>
            </a:r>
            <a:r>
              <a:rPr 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Å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 −6%) — Si–O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의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2.6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배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· 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Si–Si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의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1.4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배 가량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.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b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국소 거리는 실험 대비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+2%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수준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Si–Si </a:t>
            </a:r>
            <a:r>
              <a:rPr lang="en-US"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3.135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vs 3.08)</a:t>
            </a:r>
            <a:r>
              <a:rPr lang="ko-KR" alt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으로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부호가 반대 → 국소 거리로 설명 불가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.</a:t>
            </a:r>
          </a:p>
          <a:p>
            <a:pPr marL="237744" indent="-237744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7</a:t>
            </a:r>
            <a:r>
              <a:rPr lang="en-US" altLang="ko-KR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net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고리 분포가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BKS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와 동일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우측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 — 7net 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자체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melt-quench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미수행으로 위상을 그대로 물려받았다</a:t>
            </a:r>
            <a:r>
              <a:rPr lang="en-US" altLang="ko-KR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.</a:t>
            </a:r>
            <a:r>
              <a:rPr lang="ko-KR" altLang="en-US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endParaRPr lang="en-US" altLang="ko-KR"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Structure factor S(q)</a:t>
            </a:r>
            <a:r>
              <a:rPr lang="ko-KR" alt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비교와 망 위상 </a:t>
            </a:r>
            <a:r>
              <a:rPr lang="el-GR" altLang="ko-KR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(ρ = 2.20 </a:t>
            </a:r>
            <a:r>
              <a:rPr lang="en-US" altLang="ko-KR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g/cm³)</a:t>
            </a:r>
            <a:endParaRPr lang="ko-KR" altLang="en-US" sz="3200" b="0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A8D7196-4685-2A33-9E89-C85E1D941718}"/>
              </a:ext>
            </a:extLst>
          </p:cNvPr>
          <p:cNvGrpSpPr/>
          <p:nvPr/>
        </p:nvGrpSpPr>
        <p:grpSpPr>
          <a:xfrm>
            <a:off x="-61248" y="962817"/>
            <a:ext cx="8006507" cy="3157058"/>
            <a:chOff x="1928078" y="1118935"/>
            <a:chExt cx="8385048" cy="3306321"/>
          </a:xfrm>
        </p:grpSpPr>
        <p:pic>
          <p:nvPicPr>
            <p:cNvPr id="4" name="Picture 3" descr="fig_sq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83091" y="1118935"/>
              <a:ext cx="7622771" cy="3158836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928078" y="4150936"/>
              <a:ext cx="8385048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0" indent="0" algn="ctr" eaLnBrk="0" latinLnBrk="0" hangingPunct="0">
                <a:lnSpc>
                  <a:spcPct val="130000"/>
                </a:lnSpc>
                <a:spcAft>
                  <a:spcPts val="0"/>
                </a:spcAft>
                <a:buNone/>
              </a:pP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중성자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</a:t>
              </a: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구조인자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S(q) — (a) </a:t>
              </a: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전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</a:t>
              </a: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구간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, (b) FSDP </a:t>
              </a: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확대</a:t>
              </a:r>
              <a:r>
                <a:rPr lang="en-US" altLang="ko-KR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.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</a:t>
              </a:r>
              <a:r>
                <a:rPr lang="en-US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Digitized 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exp.</a:t>
              </a:r>
              <a:r>
                <a:rPr sz="1100" b="0" i="1" baseline="30000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[4]</a:t>
              </a:r>
              <a:r>
                <a:rPr lang="ko-KR" altLang="en-US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결과와 직접 비교</a:t>
              </a:r>
              <a:r>
                <a:rPr lang="en-US" altLang="ko-KR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.</a:t>
              </a:r>
              <a:r>
                <a:rPr lang="ko-KR" altLang="en-US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</a:t>
              </a:r>
              <a:endParaRPr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57200" y="6516459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[4]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Zeidler et al., PRL 113, 135501 (2014).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	</a:t>
            </a:r>
            <a:r>
              <a:rPr lang="ko-KR" alt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*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FSDP = first sharp diffraction peak,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유리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중거리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질서의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표준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지표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.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94422972-168A-E3B1-F583-F8D58F8E2C68}"/>
              </a:ext>
            </a:extLst>
          </p:cNvPr>
          <p:cNvGrpSpPr/>
          <p:nvPr/>
        </p:nvGrpSpPr>
        <p:grpSpPr>
          <a:xfrm>
            <a:off x="7843876" y="1018011"/>
            <a:ext cx="3813204" cy="3118829"/>
            <a:chOff x="7516967" y="977416"/>
            <a:chExt cx="3993490" cy="3266285"/>
          </a:xfrm>
        </p:grpSpPr>
        <p:pic>
          <p:nvPicPr>
            <p:cNvPr id="7" name="Picture 3">
              <a:extLst>
                <a:ext uri="{FF2B5EF4-FFF2-40B4-BE49-F238E27FC236}">
                  <a16:creationId xmlns:a16="http://schemas.microsoft.com/office/drawing/2014/main" id="{81EBF2C1-5EC1-E91E-CEDF-669E4A961F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7516967" y="977416"/>
              <a:ext cx="3909670" cy="3057186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E995A02-4AE9-BF71-C21D-773F99C6E1CC}"/>
                </a:ext>
              </a:extLst>
            </p:cNvPr>
            <p:cNvSpPr txBox="1"/>
            <p:nvPr/>
          </p:nvSpPr>
          <p:spPr>
            <a:xfrm>
              <a:off x="7807515" y="3969381"/>
              <a:ext cx="3702942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 eaLnBrk="0" latinLnBrk="0" hangingPunct="0">
                <a:lnSpc>
                  <a:spcPct val="130000"/>
                </a:lnSpc>
              </a:pPr>
              <a:r>
                <a:rPr lang="en-US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R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ing</a:t>
              </a:r>
              <a:r>
                <a:rPr lang="en-US" sz="110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statistics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— </a:t>
              </a: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BKS와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7net </a:t>
              </a: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이완</a:t>
              </a: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</a:t>
              </a: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구조</a:t>
              </a:r>
              <a:r>
                <a:rPr lang="ko-KR" altLang="en-US"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 망 위상이 </a:t>
              </a:r>
              <a:r>
                <a:rPr sz="1100" b="0" i="1" dirty="0" err="1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동일</a:t>
              </a:r>
              <a:endParaRPr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밀도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·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부피탄성률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—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비교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조건의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영향</a:t>
            </a:r>
            <a:endParaRPr sz="3200" b="0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pic>
        <p:nvPicPr>
          <p:cNvPr id="3" name="Picture 2" descr="fig_den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89882"/>
            <a:ext cx="6981535" cy="3042666"/>
          </a:xfrm>
          <a:prstGeom prst="rect">
            <a:avLst/>
          </a:prstGeom>
        </p:spPr>
      </p:pic>
      <p:pic>
        <p:nvPicPr>
          <p:cNvPr id="4" name="Picture 3" descr="fig_bulkmo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7969" y="936182"/>
            <a:ext cx="3867732" cy="31655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0325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eaLnBrk="0" latinLnBrk="0" hangingPunct="0">
              <a:lnSpc>
                <a:spcPct val="130000"/>
              </a:lnSpc>
            </a:pPr>
            <a:r>
              <a:rPr lang="ko-KR" altLang="en-US" sz="110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좌</a:t>
            </a:r>
            <a:r>
              <a:rPr lang="en-US" altLang="ko-KR" sz="110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: (a)</a:t>
            </a:r>
            <a:r>
              <a:rPr lang="en-US" altLang="ko-KR"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E–V, (b) virial P–V. </a:t>
            </a:r>
            <a:r>
              <a:rPr lang="el-GR" altLang="ko-KR"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ρ₀ · </a:t>
            </a:r>
            <a:r>
              <a:rPr lang="en-US" altLang="ko-KR"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K₀ </a:t>
            </a:r>
            <a:r>
              <a:rPr lang="ko-KR" altLang="en-US" sz="11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를</a:t>
            </a:r>
            <a:r>
              <a:rPr lang="ko-KR" altLang="en-US"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추출함</a:t>
            </a:r>
            <a:r>
              <a:rPr lang="en-US" altLang="ko-KR"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.</a:t>
            </a:r>
            <a:r>
              <a:rPr lang="ko-KR" altLang="en-US"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        우</a:t>
            </a:r>
            <a:r>
              <a:rPr lang="en-US" altLang="ko-KR"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: Bulk modulus</a:t>
            </a:r>
            <a:r>
              <a:rPr lang="ko-KR" altLang="en-US"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의 밀도에 대한 함수 </a:t>
            </a:r>
            <a:r>
              <a:rPr lang="en-US" altLang="ko-KR"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K(</a:t>
            </a:r>
            <a:r>
              <a:rPr lang="el-GR" altLang="ko-KR"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ρ). 	</a:t>
            </a:r>
            <a:r>
              <a:rPr lang="en-US" altLang="ko-KR"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(exp.: </a:t>
            </a:r>
            <a:r>
              <a:rPr lang="el-GR" altLang="ko-KR"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ρ = 2.20 </a:t>
            </a:r>
            <a:r>
              <a:rPr lang="en-US" altLang="ko-KR"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g/cm³ </a:t>
            </a:r>
            <a:r>
              <a:rPr lang="en-US" altLang="ko-KR" sz="1100" b="0" i="1" baseline="300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[7],</a:t>
            </a:r>
            <a:r>
              <a:rPr lang="en-US" altLang="ko-KR"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1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K</a:t>
            </a:r>
            <a:r>
              <a:rPr lang="en-US" altLang="ko-KR" sz="1100" i="1" baseline="-25000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exp</a:t>
            </a:r>
            <a:r>
              <a:rPr lang="en-US" altLang="ko-KR"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= 37 </a:t>
            </a:r>
            <a:r>
              <a:rPr lang="en-US" altLang="ko-KR" sz="1100" b="0" i="1" dirty="0" err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GPa</a:t>
            </a:r>
            <a:r>
              <a:rPr lang="en-US" altLang="ko-KR"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100" b="0" i="1" baseline="30000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[5]</a:t>
            </a:r>
            <a:r>
              <a:rPr lang="en-US" altLang="ko-KR"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462" y="4388750"/>
            <a:ext cx="10817699" cy="192704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ρ₀ 평형 밀도: 실험 대비 </a:t>
            </a:r>
            <a:r>
              <a:rPr lang="ko-KR" alt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BKS +6.6%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→ </a:t>
            </a:r>
            <a:r>
              <a:rPr lang="ko-KR" altLang="en-US"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7net +0.8%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— 오차 7.8배 감소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K₀ (각 포텐셜의 ρ₀에서): </a:t>
            </a:r>
            <a:r>
              <a:rPr lang="ko-KR" alt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BKS 34.3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/ </a:t>
            </a:r>
            <a:r>
              <a:rPr lang="ko-KR" altLang="en-US"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7net 43.2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GPa — 표면상 </a:t>
            </a:r>
            <a:r>
              <a:rPr lang="ko-KR" alt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BKS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오차가 더 작음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475488" lvl="1" indent="-190500" algn="l" eaLnBrk="0" latinLnBrk="0" hangingPunct="0">
              <a:lnSpc>
                <a:spcPct val="130000"/>
              </a:lnSpc>
              <a:spcAft>
                <a:spcPts val="600"/>
              </a:spcAft>
              <a:buFont typeface="Arial" charset="0"/>
              <a:buChar char="–"/>
            </a:pP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같은 밀도에서 3% 이내 일치 — K(</a:t>
            </a:r>
            <a:r>
              <a:rPr lang="ko-KR" alt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ρ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)의 </a:t>
            </a:r>
            <a:r>
              <a:rPr lang="ko-KR" alt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우하향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&amp;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BKS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의 과대 밀도가 곡선 아래쪽을 읽게 함 (오차 상쇄)</a:t>
            </a:r>
          </a:p>
          <a:p>
            <a:pPr marL="475488" lvl="1" indent="-190500" algn="l" eaLnBrk="0" latinLnBrk="0" hangingPunct="0">
              <a:lnSpc>
                <a:spcPct val="130000"/>
              </a:lnSpc>
              <a:spcAft>
                <a:spcPts val="600"/>
              </a:spcAft>
              <a:buFont typeface="Arial" charset="0"/>
              <a:buChar char="–"/>
            </a:pPr>
            <a:r>
              <a:rPr lang="en-US" altLang="ko-KR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At </a:t>
            </a:r>
            <a:r>
              <a:rPr lang="ko-KR" alt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ρ</a:t>
            </a:r>
            <a:r>
              <a:rPr lang="en-US" altLang="ko-KR" sz="1600" b="0" i="0" baseline="-25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exp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= 2.20: </a:t>
            </a:r>
            <a:r>
              <a:rPr lang="ko-KR" alt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BKS 45.3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/ </a:t>
            </a:r>
            <a:r>
              <a:rPr lang="ko-KR" altLang="en-US"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7net 43.9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vs 실험 37 GPa[5] — 둘 다 약 20% 과대.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DFT(GGA) 문헌 40–46 GPa</a:t>
            </a:r>
            <a:r>
              <a:rPr lang="ko-KR" altLang="en-US" sz="1600" b="0" i="0" baseline="300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[6]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lang="ko-KR" altLang="en-US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결과 해석 주의:</a:t>
            </a:r>
            <a:r>
              <a:rPr lang="ko-KR" alt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 BKS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의 K₀ 근접 = 밀도 오차의 산물. 포텐셜 교체로 개선 없음 → 구조 생성 프로토콜이 오차 후보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495" y="6531838"/>
            <a:ext cx="11024479" cy="3075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[5]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T.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Deschamps et al., Sci. Rep. 4, 7193 (2014)   ·   [6]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U. C.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Roy &amp; 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A. 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Bongiorno, JPCC 128, 21220 (2024)   ·   [7</a:t>
            </a:r>
            <a:r>
              <a:rPr lang="en-US"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] O. V.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Mazurin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et al., Handbook of Glass Data, Part A (1983)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계산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비용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— classical MD </a:t>
            </a: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대비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~</a:t>
            </a: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10³배</a:t>
            </a:r>
            <a:r>
              <a:rPr 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(CPU only)</a:t>
            </a:r>
            <a:endParaRPr sz="3200" b="0" i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5410" y="1401723"/>
            <a:ext cx="6500342" cy="47182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200000"/>
              </a:lnSpc>
              <a:spcBef>
                <a:spcPts val="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BKS 1,347,000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vs </a:t>
            </a:r>
            <a:r>
              <a:rPr lang="en-US"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7net 1,083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atom-step/s </a:t>
            </a:r>
            <a:br>
              <a:rPr lang="en-US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</a:t>
            </a:r>
            <a:r>
              <a:rPr lang="en-US"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7net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이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1,244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배 느림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(5 </a:t>
            </a:r>
            <a:r>
              <a:rPr 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ps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4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초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vs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2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시간 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46</a:t>
            </a: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분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</a:t>
            </a:r>
            <a:b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ko-KR" altLang="en-US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느린 이유</a:t>
            </a:r>
            <a:r>
              <a:rPr lang="en-US" altLang="ko-KR" sz="1600" b="1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</a:t>
            </a:r>
            <a:r>
              <a:rPr lang="ko-KR" altLang="en-US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600" b="0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7net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은 원자쌍마다 3층 신경망 </a:t>
            </a:r>
            <a:r>
              <a:rPr lang="en-US" altLang="ko-KR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텐서곱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b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— classical MD의 해석적 pair 함수 대비 연산량 자릿수 차이</a:t>
            </a:r>
          </a:p>
          <a:p>
            <a:pPr marL="237744" indent="-237744" algn="l" eaLnBrk="0" latinLnBrk="0" hangingPunct="0">
              <a:lnSpc>
                <a:spcPct val="200000"/>
              </a:lnSpc>
              <a:spcBef>
                <a:spcPts val="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가속의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기준은 AIMD: MLIP O(N) vs </a:t>
            </a:r>
            <a:r>
              <a:rPr lang="en-US" sz="160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AIMD</a:t>
            </a: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O(N³) </a:t>
            </a:r>
            <a:b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— 본 연구에서 AIMD는 미측정</a:t>
            </a:r>
            <a:endParaRPr lang="en-US" altLang="ko-KR"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eaLnBrk="0" latinLnBrk="0" hangingPunct="0">
              <a:lnSpc>
                <a:spcPct val="200000"/>
              </a:lnSpc>
              <a:spcBef>
                <a:spcPts val="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병렬 천장 (본 머신): OMP 1.83배 / 독립 프로세스 1.98배 </a:t>
            </a:r>
            <a:b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</a:br>
            <a:r>
              <a:rPr lang="ko-KR" alt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메모리 대역폭 한계일 수 있음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처리량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=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원자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수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×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스텝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수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÷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벽시계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시간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(atom-step/s).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배수는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조건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의존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— cutoff 5.5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Å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· </a:t>
            </a: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ρ</a:t>
            </a: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= 2.607에서는 2,462배.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3FEA6F4-7754-8B42-1268-567E6596731E}"/>
              </a:ext>
            </a:extLst>
          </p:cNvPr>
          <p:cNvGrpSpPr/>
          <p:nvPr/>
        </p:nvGrpSpPr>
        <p:grpSpPr>
          <a:xfrm>
            <a:off x="7636498" y="1110344"/>
            <a:ext cx="3605140" cy="5233567"/>
            <a:chOff x="7114623" y="1170535"/>
            <a:chExt cx="3605140" cy="5233567"/>
          </a:xfrm>
        </p:grpSpPr>
        <p:sp>
          <p:nvSpPr>
            <p:cNvPr id="5" name="TextBox 4"/>
            <p:cNvSpPr txBox="1"/>
            <p:nvPr/>
          </p:nvSpPr>
          <p:spPr>
            <a:xfrm>
              <a:off x="7349289" y="6129782"/>
              <a:ext cx="3284623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marL="0" indent="0" algn="ctr" eaLnBrk="0" latinLnBrk="0" hangingPunct="0">
                <a:lnSpc>
                  <a:spcPct val="130000"/>
                </a:lnSpc>
                <a:spcAft>
                  <a:spcPts val="0"/>
                </a:spcAft>
                <a:buNone/>
              </a:pPr>
              <a:r>
                <a:rPr sz="1100" b="0" i="1" dirty="0">
                  <a:solidFill>
                    <a:srgbClr val="7A7A7A"/>
                  </a:solidFill>
                  <a:latin typeface="Arial"/>
                  <a:ea typeface="맑은 고딕"/>
                  <a:cs typeface="Arial"/>
                </a:rPr>
                <a:t>(a) 처리량   (b) 병렬 확장성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88BA4336-BB60-0C58-78E4-E733C44BE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14623" y="1170535"/>
              <a:ext cx="3605140" cy="49740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한계 및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652" y="1047961"/>
            <a:ext cx="5346700" cy="402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0" latinLnBrk="0" hangingPunct="0">
              <a:lnSpc>
                <a:spcPct val="130000"/>
              </a:lnSpc>
              <a:spcAft>
                <a:spcPts val="2000"/>
              </a:spcAft>
            </a:pPr>
            <a:r>
              <a:rPr lang="en-US" altLang="ko-KR" sz="1600" b="1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 Limitations ]</a:t>
            </a:r>
            <a:endParaRPr lang="en-US" sz="1600" b="1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7net melt-quench · 어닐링 미수행 → 위상은 BKS 것 (ring 분포 동일)</a:t>
            </a: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냉각속도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5×10¹² K/s (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실험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대비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~10¹³배) ·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셀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2,160원자 · excess energy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미계산</a:t>
            </a:r>
            <a:endParaRPr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BKS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구조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생성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용융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중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NPT →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부피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붕괴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(2.26 → 2.62 g/cm³) → NVT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고정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부피로</a:t>
            </a: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전환</a:t>
            </a:r>
            <a:endParaRPr lang="en-US"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측정은 CPU 전용 — 메모리 대역폭 병목. 텐서곱은 GPU에 유리하나 본 연구 미측정</a:t>
            </a:r>
            <a:endParaRPr lang="en-US"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475488" indent="-190500" algn="l" eaLnBrk="0" latinLnBrk="0" hangingPunct="0" lvl="1">
              <a:lnSpc>
                <a:spcPct val="130000"/>
              </a:lnSpc>
              <a:spcAft>
                <a:spcPts val="2000"/>
              </a:spcAft>
              <a:buFont typeface="Arial" charset="0"/>
              <a:buChar char="–"/>
            </a:pPr>
            <a:r>
              <a:rPr lang="en-US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논문 GPU 벤치[10] 기준 본 계 규모는 수십 배 가속 추정 — 계가 클수록 유리 (70원자 8×10³ → 7만원자 1.4×10⁵ atom-step/s)</a:t>
            </a:r>
            <a:endParaRPr lang="en-US"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16459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[8] L.C. Erhard et al., npj Comput. Mater. 8, 90 (2022)   ·   [10] J. Oh et al., J. Chem. Inf. Model. (2026), DOI 10.1021/acs.jcim.6c01103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3F429F-2B87-5090-4FF0-E5EB1D2CBB83}"/>
              </a:ext>
            </a:extLst>
          </p:cNvPr>
          <p:cNvSpPr txBox="1"/>
          <p:nvPr/>
        </p:nvSpPr>
        <p:spPr>
          <a:xfrm>
            <a:off x="6242452" y="1047961"/>
            <a:ext cx="5346700" cy="25588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0" latinLnBrk="0" hangingPunct="0">
              <a:lnSpc>
                <a:spcPct val="130000"/>
              </a:lnSpc>
              <a:spcAft>
                <a:spcPts val="2000"/>
              </a:spcAft>
            </a:pPr>
            <a:r>
              <a:rPr lang="en-US" altLang="ko-KR" sz="1600" b="1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 Next step ]</a:t>
            </a:r>
            <a:r>
              <a:rPr lang="ko-KR" altLang="en-US" sz="1600" b="1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endParaRPr lang="en-US" altLang="ko-KR" sz="1600" b="1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7net melt-quench + 어닐링[8] — 현 CPU 기준 20 ps ≈ 11시간, GPU 1장이면 실용 범위</a:t>
            </a:r>
            <a:endParaRPr lang="en-US" sz="16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lang="en-US" sz="1600" dirty="0" b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thermal expansion coefficient 추정 · 첨가물에 따른 α 조절 가능성</a:t>
            </a:r>
            <a:endParaRPr lang="en-US" sz="160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</p:txBody>
      </p:sp>
      <p:pic>
        <p:nvPicPr>
          <p:cNvPr id="11" name="Picture 10" descr="fig_alpha_schemat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624" y="3675887"/>
            <a:ext cx="4828032" cy="21553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78624" y="5831258"/>
            <a:ext cx="4828032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100" b="0" i="1" dirty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열팽창계수 α = V(T) 기울기. 첨가물에 따른 α 조절 (schematic)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Appendix. Computational details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010982"/>
              </p:ext>
            </p:extLst>
          </p:nvPr>
        </p:nvGraphicFramePr>
        <p:xfrm>
          <a:off x="445179" y="1078992"/>
          <a:ext cx="11234889" cy="5129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0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04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계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a-SiO₂ 2,160 atoms (720 Si / 1,440 O), ρ = 2.20 g/cm³, cubic PBC, L ≈ 30.4 Å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초기 구조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Materials Project mp-554089 (Pna2₁, 12 atoms/cell) → 6 × 6 × 5 replicate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BKS 포텐셜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Buckingham + Coulomb</a:t>
                      </a:r>
                      <a:r>
                        <a:rPr sz="1200" b="0" baseline="3000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[9]</a:t>
                      </a: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q(Si) = +2.4 e / q(O) = −1.2 e, r_c = 10 Å, PPPM 1×10⁻⁴, 분산항 tail 보정 on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dirty="0" err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단거리</a:t>
                      </a:r>
                      <a:r>
                        <a:rPr sz="1200" b="1" dirty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안전항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endParaRPr sz="1200" b="1" dirty="0">
                        <a:solidFill>
                          <a:srgbClr val="000000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r⁻¹²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반발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core (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WCA형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): O–O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σ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1.50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ε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3.0 eV / Si–O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σ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1.10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ε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4.0 eV</a:t>
                      </a:r>
                      <a:r>
                        <a:rPr lang="en-US" altLang="ko-KR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.</a:t>
                      </a:r>
                      <a:r>
                        <a:rPr lang="ko-KR" altLang="en-US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고온 계산 수치안정화를 위해 근거리 </a:t>
                      </a:r>
                      <a:r>
                        <a:rPr lang="ko-KR" altLang="en-US"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반발항</a:t>
                      </a:r>
                      <a:r>
                        <a:rPr lang="ko-KR" altLang="en-US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추가</a:t>
                      </a:r>
                      <a:r>
                        <a:rPr lang="en-US" altLang="ko-KR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.</a:t>
                      </a:r>
                      <a:endParaRPr sz="1200" b="0" dirty="0">
                        <a:solidFill>
                          <a:srgbClr val="26262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MLIP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7net-Nano-4.5 (7net-Omni mpa 채널에서 증류), cutoff 4.5 Å, LAMMPS pair_style e3gnn (TorchScript)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구조 생성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NVT 고정 부피 melt-quench: 300→4000 K 50 ps → 4000 K 200 ps → 4000→300 K (100 K × 20 ps) → 300 K 100 ps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냉각속도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5 × 10¹² K/s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MD 조건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NVT, Nosé–Hoover thermostat (T_damp = 0.1 ps), timestep 1 fs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7net MD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300 K NVT, equilibration 2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ps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+ production 3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ps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궤적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20 step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간격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저장</a:t>
                      </a:r>
                      <a:endParaRPr sz="1200" b="0" dirty="0">
                        <a:solidFill>
                          <a:srgbClr val="26262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E–V 스캔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셀 고정 · 원자만 0 K 이완, 7점. 부피비 f = 0.94–1.06 (7net) / 0.90–1.02 (BKS)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최소화 수렴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etol = 0, ftol = 1×10⁻³ eV/Å, maxiter/maxeval 150 (etol &gt; 0은 셀 자유도에서 조기 종료)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상태방정식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BM3. E(V) 4-파라미터와 virial P(V) 3-파라미터를 독립 피팅, K₀는 P(V) 경로를 채택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g(r) · 배위수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dr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0.01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r ≤ 8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, 300 K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시간평균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. 제1피크는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히스토그램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최댓값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. n(Si–O) = 4.001 (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컷오프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2.0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Å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)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S(q)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주기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셀의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정합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q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벡터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직접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합산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(r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절단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·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창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함수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없음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),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껍질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평균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Δq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= 2π/L = 0.207 Å⁻¹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FSDP 추출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가우시안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+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선형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배경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피팅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(</a:t>
                      </a:r>
                      <a:r>
                        <a:rPr lang="en-US" altLang="ko-KR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∵ </a:t>
                      </a:r>
                      <a:r>
                        <a:rPr lang="ko-KR" altLang="en-US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노이즈에 강건한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최댓값</a:t>
                      </a:r>
                      <a:r>
                        <a:rPr lang="ko-KR" altLang="en-US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추출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).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중성자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가중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 0.0694 : 0.3880 : 0.5426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소프트웨어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LAMMPS stable_2Aug2023_update3 · SevenNet 0.13.0 · PyTorch 2.13.0+cpu · ASE 3.29.0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하드웨어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Intel i5-11600K 6c/12t, RAM 15 GB, GPU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없음</a:t>
                      </a:r>
                      <a:endParaRPr sz="1200" b="0" dirty="0">
                        <a:solidFill>
                          <a:srgbClr val="26262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07F2089-DB07-E7D9-8918-3DA7CB9CB9B1}"/>
              </a:ext>
            </a:extLst>
          </p:cNvPr>
          <p:cNvSpPr txBox="1"/>
          <p:nvPr/>
        </p:nvSpPr>
        <p:spPr>
          <a:xfrm>
            <a:off x="405423" y="6540702"/>
            <a:ext cx="6713133" cy="2550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[9]  B. W. H. van </a:t>
            </a:r>
            <a:r>
              <a:rPr lang="en-US" altLang="ko-KR" sz="105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Beest</a:t>
            </a: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 G. J. Kramer, R. A. van Santen, Phys. Rev. Lett. 64, 1955 (1990).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hy_present_wide_light">
  <a:themeElements>
    <a:clrScheme name="사용자 지정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C11D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 algn="ctr">
          <a:defRPr kumimoji="1" sz="2000" b="1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>
        <a:ln w="12700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50000"/>
          </a:lnSpc>
          <a:defRPr kumimoji="1" sz="2000" b="1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hy_present_wide_light" id="{B682DCEF-9B1D-8841-8C03-B59993AB33ED}" vid="{20E18A43-79AE-9646-8C71-E559D91F96BC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</TotalTime>
  <Words>1777</Words>
  <Application>Microsoft Macintosh PowerPoint</Application>
  <PresentationFormat>와이드스크린</PresentationFormat>
  <Paragraphs>138</Paragraphs>
  <Slides>7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Courier New</vt:lpstr>
      <vt:lpstr>Wingdings</vt:lpstr>
      <vt:lpstr>phy_present_wide_light</vt:lpstr>
      <vt:lpstr>Universal MLIP의 a-SiO₂ 적용 SevenNet-Nano 파일럿 스터디</vt:lpstr>
      <vt:lpstr>실공간 구조 — 결합길이 · 결합각</vt:lpstr>
      <vt:lpstr>Structure factor S(q) 비교와 망 위상 (ρ = 2.20 g/cm³)</vt:lpstr>
      <vt:lpstr>밀도 · 부피탄성률 — 비교 조건의 영향</vt:lpstr>
      <vt:lpstr>계산 비용 — classical MD 대비 ~10³배 (CPU only)</vt:lpstr>
      <vt:lpstr>한계 및 next step</vt:lpstr>
      <vt:lpstr>Appendix. Computational details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Dong Hyun David Lee</dc:creator>
  <cp:lastModifiedBy>Dong Hyun David Lee</cp:lastModifiedBy>
  <cp:revision>178</cp:revision>
  <dcterms:created xsi:type="dcterms:W3CDTF">2026-08-14T09:14:06Z</dcterms:created>
  <dcterms:modified xsi:type="dcterms:W3CDTF">2026-08-16T09:38:54Z</dcterms:modified>
</cp:coreProperties>
</file>
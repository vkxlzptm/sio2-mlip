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61" r:id="rId7"/>
    <p:sldId id="265" r:id="rId14"/>
    <p:sldId id="260" r:id="rId6"/>
    <p:sldId id="258" r:id="rId4"/>
    <p:sldId id="268" r:id="rId17"/>
    <p:sldId id="269" r:id="rId18"/>
    <p:sldId id="266" r:id="rId15"/>
    <p:sldId id="267" r:id="rId16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BB6"/>
    <a:srgbClr val="6ABC6C"/>
    <a:srgbClr val="D729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95"/>
    <p:restoredTop sz="95574"/>
  </p:normalViewPr>
  <p:slideViewPr>
    <p:cSldViewPr snapToGrid="0">
      <p:cViewPr varScale="1">
        <p:scale>
          <a:sx n="101" d="100"/>
          <a:sy n="101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91F33-CBB4-A247-B7D0-A64F2A07719C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9E76A-B312-9048-804C-9F3C0A3437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644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Si-O </a:t>
            </a:r>
            <a:r>
              <a:rPr lang="ko-KR" altLang="en-US" dirty="0"/>
              <a:t>길이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7net = AIMD </a:t>
            </a:r>
            <a:r>
              <a:rPr lang="ko-KR" altLang="en-US" dirty="0"/>
              <a:t>사실상 일치 </a:t>
            </a:r>
            <a:r>
              <a:rPr lang="en-US" altLang="ko-KR" dirty="0"/>
              <a:t>(resolution </a:t>
            </a:r>
            <a:r>
              <a:rPr lang="ko-KR" altLang="en-US" dirty="0"/>
              <a:t>한계 내에서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! </a:t>
            </a:r>
            <a:r>
              <a:rPr dirty="0"/>
              <a:t>Si–O–Si </a:t>
            </a:r>
            <a:r>
              <a:rPr dirty="0" err="1"/>
              <a:t>차이의</a:t>
            </a:r>
            <a:r>
              <a:rPr dirty="0"/>
              <a:t> </a:t>
            </a:r>
            <a:r>
              <a:rPr dirty="0" err="1"/>
              <a:t>근거</a:t>
            </a:r>
            <a:r>
              <a:rPr dirty="0"/>
              <a:t> (</a:t>
            </a:r>
            <a:r>
              <a:rPr dirty="0" err="1"/>
              <a:t>구두용</a:t>
            </a:r>
            <a:r>
              <a:rPr dirty="0"/>
              <a:t>, </a:t>
            </a:r>
            <a:r>
              <a:rPr dirty="0" err="1"/>
              <a:t>슬라이드에는</a:t>
            </a:r>
            <a:r>
              <a:rPr dirty="0"/>
              <a:t> </a:t>
            </a:r>
            <a:r>
              <a:rPr dirty="0" err="1"/>
              <a:t>넣지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)</a:t>
            </a:r>
          </a:p>
          <a:p>
            <a:r>
              <a:rPr dirty="0"/>
              <a:t>· AIMD </a:t>
            </a:r>
            <a:r>
              <a:rPr dirty="0" err="1"/>
              <a:t>고리</a:t>
            </a:r>
            <a:r>
              <a:rPr dirty="0"/>
              <a:t> </a:t>
            </a:r>
            <a:r>
              <a:rPr dirty="0" err="1"/>
              <a:t>분포는</a:t>
            </a:r>
            <a:r>
              <a:rPr dirty="0"/>
              <a:t> </a:t>
            </a:r>
            <a:r>
              <a:rPr dirty="0" err="1"/>
              <a:t>양쪽으로</a:t>
            </a:r>
            <a:r>
              <a:rPr dirty="0"/>
              <a:t> </a:t>
            </a:r>
            <a:r>
              <a:rPr dirty="0" err="1"/>
              <a:t>넓다</a:t>
            </a:r>
            <a:r>
              <a:rPr dirty="0"/>
              <a:t> — 4-고리 16.3 % vs </a:t>
            </a:r>
            <a:r>
              <a:rPr dirty="0" err="1"/>
              <a:t>우리</a:t>
            </a:r>
            <a:r>
              <a:rPr dirty="0"/>
              <a:t> 10.2 %, 7-고리 22.8 % vs </a:t>
            </a:r>
            <a:r>
              <a:rPr dirty="0" err="1"/>
              <a:t>우리</a:t>
            </a:r>
            <a:r>
              <a:rPr dirty="0"/>
              <a:t> 18.5 %, </a:t>
            </a:r>
            <a:r>
              <a:rPr dirty="0" err="1"/>
              <a:t>σ</a:t>
            </a:r>
            <a:r>
              <a:rPr dirty="0"/>
              <a:t> 1.14 vs 1.06.</a:t>
            </a:r>
          </a:p>
          <a:p>
            <a:r>
              <a:rPr dirty="0"/>
              <a:t>·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고리는</a:t>
            </a:r>
            <a:r>
              <a:rPr dirty="0"/>
              <a:t> Si–O–</a:t>
            </a:r>
            <a:r>
              <a:rPr dirty="0" err="1"/>
              <a:t>Si를</a:t>
            </a:r>
            <a:r>
              <a:rPr dirty="0"/>
              <a:t> </a:t>
            </a:r>
            <a:r>
              <a:rPr dirty="0" err="1"/>
              <a:t>기하학적으로</a:t>
            </a:r>
            <a:r>
              <a:rPr dirty="0"/>
              <a:t> </a:t>
            </a:r>
            <a:r>
              <a:rPr dirty="0" err="1"/>
              <a:t>좁히지만</a:t>
            </a:r>
            <a:r>
              <a:rPr dirty="0"/>
              <a:t>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고리는</a:t>
            </a:r>
            <a:r>
              <a:rPr dirty="0"/>
              <a:t> </a:t>
            </a:r>
            <a:r>
              <a:rPr dirty="0" err="1"/>
              <a:t>포화하므로</a:t>
            </a:r>
            <a:r>
              <a:rPr dirty="0"/>
              <a:t>, </a:t>
            </a:r>
            <a:r>
              <a:rPr dirty="0" err="1"/>
              <a:t>순효과는</a:t>
            </a:r>
            <a:r>
              <a:rPr dirty="0"/>
              <a:t> </a:t>
            </a:r>
            <a:r>
              <a:rPr dirty="0" err="1"/>
              <a:t>평균각을</a:t>
            </a:r>
            <a:r>
              <a:rPr dirty="0"/>
              <a:t> </a:t>
            </a:r>
            <a:r>
              <a:rPr dirty="0" err="1"/>
              <a:t>낮추는</a:t>
            </a:r>
            <a:r>
              <a:rPr dirty="0"/>
              <a:t> </a:t>
            </a:r>
            <a:r>
              <a:rPr dirty="0" err="1"/>
              <a:t>쪽</a:t>
            </a:r>
            <a:r>
              <a:rPr dirty="0"/>
              <a:t>(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고리</a:t>
            </a:r>
            <a:r>
              <a:rPr dirty="0"/>
              <a:t> 5.73 vs 5.79).</a:t>
            </a:r>
          </a:p>
          <a:p>
            <a:r>
              <a:rPr dirty="0"/>
              <a:t>·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고리</a:t>
            </a:r>
            <a:r>
              <a:rPr dirty="0"/>
              <a:t> </a:t>
            </a:r>
            <a:r>
              <a:rPr dirty="0" err="1"/>
              <a:t>통계만으로</a:t>
            </a:r>
            <a:r>
              <a:rPr dirty="0"/>
              <a:t> 6.5°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정량</a:t>
            </a:r>
            <a:r>
              <a:rPr dirty="0"/>
              <a:t> </a:t>
            </a:r>
            <a:r>
              <a:rPr dirty="0" err="1"/>
              <a:t>설명하지는</a:t>
            </a:r>
            <a:r>
              <a:rPr dirty="0"/>
              <a:t> </a:t>
            </a:r>
            <a:r>
              <a:rPr dirty="0" err="1"/>
              <a:t>못한다</a:t>
            </a:r>
            <a:r>
              <a:rPr dirty="0"/>
              <a:t>. </a:t>
            </a:r>
            <a:r>
              <a:rPr dirty="0" err="1"/>
              <a:t>우리</a:t>
            </a:r>
            <a:r>
              <a:rPr dirty="0"/>
              <a:t> </a:t>
            </a:r>
            <a:r>
              <a:rPr dirty="0" err="1"/>
              <a:t>구조는</a:t>
            </a:r>
            <a:r>
              <a:rPr dirty="0"/>
              <a:t> BKS </a:t>
            </a:r>
            <a:r>
              <a:rPr dirty="0" err="1"/>
              <a:t>위상</a:t>
            </a:r>
            <a:r>
              <a:rPr dirty="0"/>
              <a:t> + 7net </a:t>
            </a:r>
            <a:r>
              <a:rPr dirty="0" err="1"/>
              <a:t>국소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, </a:t>
            </a:r>
            <a:r>
              <a:rPr dirty="0" err="1"/>
              <a:t>참조는</a:t>
            </a:r>
            <a:r>
              <a:rPr dirty="0"/>
              <a:t> </a:t>
            </a:r>
            <a:r>
              <a:rPr dirty="0" err="1"/>
              <a:t>자체</a:t>
            </a:r>
            <a:r>
              <a:rPr dirty="0"/>
              <a:t> AIMD </a:t>
            </a:r>
            <a:r>
              <a:rPr dirty="0" err="1"/>
              <a:t>위상</a:t>
            </a:r>
            <a:r>
              <a:rPr dirty="0"/>
              <a:t> + PBE — </a:t>
            </a:r>
            <a:r>
              <a:rPr dirty="0" err="1"/>
              <a:t>위상과</a:t>
            </a:r>
            <a:r>
              <a:rPr dirty="0"/>
              <a:t> </a:t>
            </a:r>
            <a:r>
              <a:rPr dirty="0" err="1"/>
              <a:t>범함수가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다르다</a:t>
            </a:r>
            <a:r>
              <a:rPr dirty="0"/>
              <a:t>.</a:t>
            </a:r>
          </a:p>
          <a:p>
            <a:r>
              <a:rPr dirty="0"/>
              <a:t>· </a:t>
            </a:r>
            <a:r>
              <a:rPr dirty="0" err="1"/>
              <a:t>상세는</a:t>
            </a:r>
            <a:r>
              <a:rPr dirty="0"/>
              <a:t> </a:t>
            </a:r>
            <a:r>
              <a:rPr dirty="0" err="1"/>
              <a:t>RESULTS.md</a:t>
            </a:r>
            <a:r>
              <a:rPr dirty="0"/>
              <a:t> §5.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6540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endParaRPr lang="en-US" altLang="ko-KR" sz="12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eaLnBrk="0" latinLnBrk="0" hangingPunct="0">
              <a:lnSpc>
                <a:spcPct val="130000"/>
              </a:lnSpc>
              <a:spcAft>
                <a:spcPts val="600"/>
              </a:spcAft>
            </a:pPr>
            <a:endParaRPr lang="en-US" altLang="ko-KR" sz="12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altLang="ko-KR" sz="12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altLang="ko-KR" sz="12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 중거리 주기성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(2</a:t>
            </a:r>
            <a:r>
              <a:rPr lang="el-GR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π/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q)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역수 → 망의 위상이 지배</a:t>
            </a:r>
            <a:r>
              <a:rPr lang="ko-KR" altLang="en-US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— FSDP </a:t>
            </a:r>
            <a:r>
              <a:rPr lang="ko-KR" altLang="en-US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위치는 불변</a:t>
            </a:r>
            <a:endParaRPr lang="ko-KR" altLang="en-US" sz="12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실공간과 독립된 경로에서 같은 결론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 불변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3040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6845-3861-8292-5A25-1674A44F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10173E-CF04-316A-00A2-487F2C572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0421F9-C5FE-A580-BB1D-799EB6EA9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71D54C-B846-BF3C-E7B3-F13E315F5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8334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MSD </a:t>
            </a:r>
            <a:r>
              <a:rPr kumimoji="1" lang="ko-KR" altLang="en-US" dirty="0"/>
              <a:t>왜 </a:t>
            </a:r>
            <a:r>
              <a:rPr kumimoji="1" lang="ko-KR" altLang="en-US" dirty="0" err="1"/>
              <a:t>써놓음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다 같은 </a:t>
            </a:r>
            <a:r>
              <a:rPr kumimoji="1" lang="ko-KR" altLang="en-US" dirty="0" err="1"/>
              <a:t>불렛으로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섞여있는데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섹션으로</a:t>
            </a:r>
            <a:r>
              <a:rPr kumimoji="1" lang="ko-KR" altLang="en-US" dirty="0"/>
              <a:t> 나눠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br>
              <a:rPr kumimoji="1" lang="en-US" altLang="ko-KR" dirty="0"/>
            </a:b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279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Q.</a:t>
            </a:r>
            <a:r>
              <a:rPr kumimoji="1" lang="ko-KR" altLang="en-US" dirty="0"/>
              <a:t> </a:t>
            </a:r>
            <a:r>
              <a:rPr kumimoji="1" lang="en-US" altLang="ko-KR" dirty="0"/>
              <a:t>FSDP </a:t>
            </a:r>
            <a:r>
              <a:rPr kumimoji="1" lang="ko-KR" altLang="en-US" dirty="0"/>
              <a:t>추출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‘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최댓값은 잡음에 상향 편향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’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200" b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무슨말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?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노이즈 길 때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‘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최댓값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’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이라고 재면 노이즈에 오염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편향 생기는 문제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노이즈가 클 수록 더 큰 편향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14217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2026. 8. 27.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7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Universal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MLIP의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a-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SiO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₂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적용</a:t>
            </a:r>
            <a:endParaRPr kumimoji="1" lang="ko-KR" altLang="en-US" dirty="0"/>
          </a:p>
          <a:p>
            <a:pPr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SevenNet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-Nano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파일럿</a:t>
            </a:r>
            <a:r>
              <a:rPr lang="ko-KR" alt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스터디</a:t>
            </a:r>
            <a:endParaRPr sz="4000" b="1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2600" b="0" i="0" dirty="0">
                <a:solidFill>
                  <a:srgbClr val="262626"/>
                </a:solidFill>
                <a:ea typeface="맑은 고딕"/>
              </a:rPr>
              <a:t>BKS · 7net-Nano-4.5 · AIMD(PBE) ·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실험</a:t>
            </a:r>
            <a:r>
              <a:rPr sz="2600" b="0" i="0" dirty="0">
                <a:solidFill>
                  <a:srgbClr val="262626"/>
                </a:solidFill>
                <a:ea typeface="맑은 고딕"/>
              </a:rPr>
              <a:t>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비교</a:t>
            </a:r>
            <a:endParaRPr kumimoji="1" lang="ko-KR" altLang="en-US" sz="2600" dirty="0"/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600" dirty="0">
                <a:ea typeface="맑은 고딕"/>
              </a:rPr>
              <a:t>Part 1</a:t>
            </a:r>
            <a:endParaRPr lang="en-US" sz="2600" b="0" i="0" dirty="0">
              <a:ea typeface="맑은 고딕"/>
            </a:endParaRPr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2600" b="0" i="0" dirty="0">
                <a:ea typeface="맑은 고딕"/>
              </a:rPr>
              <a:t>2026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08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1</a:t>
            </a:r>
            <a:r>
              <a:rPr lang="en-US" altLang="ko-KR" sz="2600" dirty="0">
                <a:ea typeface="맑은 고딕"/>
              </a:rPr>
              <a:t>8</a:t>
            </a:r>
            <a:r>
              <a:rPr lang="ko-KR" altLang="en-US" sz="2600" b="0" i="0" dirty="0">
                <a:ea typeface="맑은 고딕"/>
              </a:rPr>
              <a:t> </a:t>
            </a:r>
            <a:endParaRPr lang="en-US" altLang="ko-KR" sz="2600" b="0" i="0" dirty="0">
              <a:ea typeface="맑은 고딕"/>
            </a:endParaRPr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ko-KR" altLang="en-US" sz="2600" b="0" i="0" dirty="0">
                <a:ea typeface="맑은 고딕"/>
              </a:rPr>
              <a:t>이동현 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86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실공간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결합길이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결합각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5108" y="4168688"/>
            <a:ext cx="5368399" cy="227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[ Bond Length ]</a:t>
            </a:r>
          </a:p>
          <a:p>
            <a:pPr marL="285750" indent="-285750"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Wingdings" pitchFamily="2" charset="2"/>
              <a:buChar char="ü"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7net-Nano-4.5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7net-Omni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mpa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증류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= PBE(+U)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학습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PBE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underbinding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경향 상속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됨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Si–O (1.635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실험 1.61 Å 대비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+1.6%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AIMD (1.630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와 사실상 일치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Wingdings" pitchFamily="2" charset="2"/>
              <a:buChar char="ü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MLIP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정확도 상한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학습 </a:t>
            </a:r>
            <a:r>
              <a:rPr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범함수</a:t>
            </a:r>
            <a:endParaRPr sz="1600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169776"/>
              </p:ext>
            </p:extLst>
          </p:nvPr>
        </p:nvGraphicFramePr>
        <p:xfrm>
          <a:off x="431945" y="1256047"/>
          <a:ext cx="5100175" cy="2056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7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3795">
                <a:tc rowSpan="2"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Bond length (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Average bond angle (°)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60">
                <a:tc vMerge="1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546367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expt.</a:t>
                      </a:r>
                      <a:r>
                        <a:rPr sz="1200" b="0" i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[2][3]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2.63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3.08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109.4–109.7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140–150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3.155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109.38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151.89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1.635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2.655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3.135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109.41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145.05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AIMD PBE</a:t>
                      </a:r>
                      <a:r>
                        <a:rPr sz="1200" b="0" i="0" baseline="3000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[1]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2.670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109.47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138.65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5300" y="3321330"/>
            <a:ext cx="5006945" cy="748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g/cm³ · 300 K. </a:t>
            </a:r>
            <a:endParaRPr lang="en-US"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Bond length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는 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g(r)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1st peak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maximum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위치 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(bin 0.01 </a:t>
            </a:r>
            <a:r>
              <a:rPr lang="en-US" altLang="ko-KR" sz="110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).</a:t>
            </a:r>
            <a:endParaRPr lang="en-US"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sz="1100" b="0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[1]</a:t>
            </a:r>
            <a:r>
              <a:rPr lang="ko-KR" alt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은</a:t>
            </a:r>
            <a:r>
              <a:rPr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120원자 · 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L = 12.2 </a:t>
            </a:r>
            <a:r>
              <a:rPr lang="en-US" sz="11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· quench 5 </a:t>
            </a:r>
            <a:r>
              <a:rPr lang="en-US" sz="11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≈ 4×10¹⁴ K</a:t>
            </a:r>
            <a:r>
              <a:rPr lang="en-US" sz="1100" b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/s</a:t>
            </a:r>
            <a:endParaRPr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81745" y="920472"/>
            <a:ext cx="2659777" cy="38946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3268" y="6519481"/>
            <a:ext cx="8779267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[1] </a:t>
            </a:r>
            <a:r>
              <a:rPr lang="en-US" sz="105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Dechant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JPCC 130, 7148 (2026)   ·   [2]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Wright, JNCS 179, 84 (1994)   ·   [3]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Dupree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R. F.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Pettifer, Nature 308, 523 (1984)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rcRect t="6124"/>
          <a:stretch/>
        </p:blipFill>
        <p:spPr>
          <a:xfrm>
            <a:off x="5877355" y="920472"/>
            <a:ext cx="3271000" cy="40184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E73C80-9914-EF34-85CD-468D8639E658}"/>
              </a:ext>
            </a:extLst>
          </p:cNvPr>
          <p:cNvSpPr txBox="1"/>
          <p:nvPr/>
        </p:nvSpPr>
        <p:spPr>
          <a:xfrm>
            <a:off x="5829242" y="4924232"/>
            <a:ext cx="6195118" cy="1566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eaLnBrk="0" latinLnBrk="0" hangingPunct="0">
              <a:lnSpc>
                <a:spcPct val="150000"/>
              </a:lnSpc>
              <a:spcAft>
                <a:spcPts val="100"/>
              </a:spcAft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[ Bond Angle ]</a:t>
            </a: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Si–O–Si: 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151.9°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145.1°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</a:t>
            </a:r>
            <a:r>
              <a:rPr lang="ko-KR" altLang="en-US" sz="1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rPr>
              <a:t>실험 밴드 </a:t>
            </a:r>
            <a:r>
              <a:rPr lang="en-US" altLang="ko-KR" sz="1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rPr>
              <a:t>140–150°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내부</a:t>
            </a: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6ABC6C"/>
                </a:solidFill>
                <a:latin typeface="Arial"/>
                <a:ea typeface="맑은 고딕"/>
                <a:cs typeface="Arial"/>
              </a:rPr>
              <a:t>AIMD 138.7°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밴드 아래 →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조건의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값을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목표로 두지 않음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조건 상이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120원자 · quench 5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(100배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급랭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·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</a:t>
            </a:r>
            <a:endParaRPr lang="ko-KR" alt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D48ABE-298C-D2D3-3199-F0B45145765F}"/>
              </a:ext>
            </a:extLst>
          </p:cNvPr>
          <p:cNvSpPr txBox="1"/>
          <p:nvPr/>
        </p:nvSpPr>
        <p:spPr>
          <a:xfrm>
            <a:off x="6475322" y="4753812"/>
            <a:ext cx="517434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lang="ko-KR" altLang="en-US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</a:t>
            </a:r>
            <a:r>
              <a:rPr lang="en-US" altLang="ko-KR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Partial Distribution Function	</a:t>
            </a:r>
            <a:r>
              <a:rPr lang="ko-KR" altLang="en-US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우</a:t>
            </a:r>
            <a:r>
              <a:rPr lang="en-US" altLang="ko-KR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Bond Angle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69963" y="3902006"/>
            <a:ext cx="10255251" cy="25918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600"/>
              </a:spcAft>
            </a:pP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  <a:sym typeface="Wingdings" pitchFamily="2" charset="2"/>
              </a:rPr>
              <a:t> 7net 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  <a:sym typeface="Wingdings" pitchFamily="2" charset="2"/>
              </a:rPr>
              <a:t>변화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</a:t>
            </a:r>
            <a:endParaRPr lang="en-US" sz="1600" b="1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5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위치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1.593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1.590 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Å⁻¹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방법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간 실질적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차이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1.49 Å⁻¹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+6.7%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5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높이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1.462 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1.360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1.357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대비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+7.8% → 7net +0.2%</a:t>
            </a:r>
          </a:p>
          <a:p>
            <a:pPr marL="237744" indent="-237744" eaLnBrk="0" latinLnBrk="0" hangingPunct="0">
              <a:lnSpc>
                <a:spcPct val="15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↔ 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실공간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특성 길이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d = 2</a:t>
            </a:r>
            <a:r>
              <a:rPr lang="el-G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π/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sz="160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≈ 3.95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4.21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−6%) — Si–O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2.6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·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Si–Si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1.4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가량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국소 거리는 실험 대비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+2%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수준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Si–Si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3.135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vs 3.08)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으로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부호가 반대 → 국소 거리로 설명 불가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5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net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고리 분포가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와 동일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우측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— 7net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자체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melt-quench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미수행으로 위상을 그대로 물려받음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Structure factor S(q)</a:t>
            </a:r>
            <a:r>
              <a:rPr lang="ko-KR" alt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비교와 망 위상 </a:t>
            </a:r>
            <a:r>
              <a:rPr lang="el-GR" altLang="ko-KR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(ρ = 2.20 </a:t>
            </a:r>
            <a:r>
              <a:rPr lang="en-US" altLang="ko-KR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g/cm³)</a:t>
            </a:r>
            <a:endParaRPr lang="ko-KR" altLang="en-US"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A8D7196-4685-2A33-9E89-C85E1D941718}"/>
              </a:ext>
            </a:extLst>
          </p:cNvPr>
          <p:cNvGrpSpPr/>
          <p:nvPr/>
        </p:nvGrpSpPr>
        <p:grpSpPr>
          <a:xfrm>
            <a:off x="460745" y="962817"/>
            <a:ext cx="7200061" cy="2839067"/>
            <a:chOff x="1928078" y="1118935"/>
            <a:chExt cx="8385048" cy="3306321"/>
          </a:xfrm>
        </p:grpSpPr>
        <p:pic>
          <p:nvPicPr>
            <p:cNvPr id="4" name="Picture 3" descr="fig_sq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3091" y="1118935"/>
              <a:ext cx="7622771" cy="31588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928078" y="4150936"/>
              <a:ext cx="8385048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중성자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구조인자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S(q) — (a)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, (b) FSDP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확대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.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실험</a:t>
              </a:r>
              <a:r>
                <a:rPr sz="1100" b="0" i="1" baseline="30000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[4]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결과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(digitized)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와 직접 비교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.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endPara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[4]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Zeidler et al., PRL 113, 135501 (2014).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	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*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FSDP = first sharp diffraction peak,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유리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질서의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표준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지표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4422972-168A-E3B1-F583-F8D58F8E2C68}"/>
              </a:ext>
            </a:extLst>
          </p:cNvPr>
          <p:cNvGrpSpPr/>
          <p:nvPr/>
        </p:nvGrpSpPr>
        <p:grpSpPr>
          <a:xfrm>
            <a:off x="7945476" y="1018011"/>
            <a:ext cx="3429124" cy="2804689"/>
            <a:chOff x="7516967" y="977416"/>
            <a:chExt cx="3993490" cy="3266285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81EBF2C1-5EC1-E91E-CEDF-669E4A961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516967" y="977416"/>
              <a:ext cx="3909670" cy="305718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995A02-4AE9-BF71-C21D-773F99C6E1CC}"/>
                </a:ext>
              </a:extLst>
            </p:cNvPr>
            <p:cNvSpPr txBox="1"/>
            <p:nvPr/>
          </p:nvSpPr>
          <p:spPr>
            <a:xfrm>
              <a:off x="7807515" y="3969381"/>
              <a:ext cx="370294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 eaLnBrk="0" latinLnBrk="0" hangingPunct="0">
                <a:lnSpc>
                  <a:spcPct val="130000"/>
                </a:lnSpc>
              </a:pPr>
              <a:r>
                <a:rPr 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R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ing</a:t>
              </a:r>
              <a:r>
                <a:rPr lang="en-US" sz="110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statistics</a:t>
              </a:r>
              <a:r>
                <a:rPr lang="ko-KR" altLang="en-US" sz="110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—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BKS와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7net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이완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구조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망 위상이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동일</a:t>
              </a:r>
              <a:endPara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DE206-9819-8249-D732-0BEAB421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9BC1-D33F-7A93-B2FB-D147D8B5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부피탄성률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비교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조건의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영향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8BF5BA-674D-F208-ED7C-88C375D08105}"/>
              </a:ext>
            </a:extLst>
          </p:cNvPr>
          <p:cNvGrpSpPr/>
          <p:nvPr/>
        </p:nvGrpSpPr>
        <p:grpSpPr>
          <a:xfrm>
            <a:off x="872924" y="938920"/>
            <a:ext cx="10243394" cy="3064260"/>
            <a:chOff x="457200" y="936182"/>
            <a:chExt cx="11267734" cy="3370686"/>
          </a:xfrm>
        </p:grpSpPr>
        <p:pic>
          <p:nvPicPr>
            <p:cNvPr id="4" name="Picture 3" descr="fig_bulkmod.png">
              <a:extLst>
                <a:ext uri="{FF2B5EF4-FFF2-40B4-BE49-F238E27FC236}">
                  <a16:creationId xmlns:a16="http://schemas.microsoft.com/office/drawing/2014/main" id="{BA4474AA-74C2-8285-1AA1-A3AD76E08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47969" y="936182"/>
              <a:ext cx="3867732" cy="3165556"/>
            </a:xfrm>
            <a:prstGeom prst="rect">
              <a:avLst/>
            </a:prstGeom>
          </p:spPr>
        </p:pic>
        <p:pic>
          <p:nvPicPr>
            <p:cNvPr id="3" name="Picture 2" descr="fig_density.png">
              <a:extLst>
                <a:ext uri="{FF2B5EF4-FFF2-40B4-BE49-F238E27FC236}">
                  <a16:creationId xmlns:a16="http://schemas.microsoft.com/office/drawing/2014/main" id="{D309B851-C32F-34C3-FCC7-176C9C340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989882"/>
              <a:ext cx="6981535" cy="304266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E207C0-A7EC-4881-607C-B93ED61D89AE}"/>
                </a:ext>
              </a:extLst>
            </p:cNvPr>
            <p:cNvSpPr txBox="1"/>
            <p:nvPr/>
          </p:nvSpPr>
          <p:spPr>
            <a:xfrm>
              <a:off x="2004186" y="4032548"/>
              <a:ext cx="3887563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 eaLnBrk="0" latinLnBrk="0" hangingPunct="0">
                <a:lnSpc>
                  <a:spcPct val="130000"/>
                </a:lnSpc>
              </a:pPr>
              <a:r>
                <a:rPr lang="ko-KR" altLang="en-US" sz="110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좌</a:t>
              </a:r>
              <a:r>
                <a:rPr lang="en-US" altLang="ko-KR" sz="110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: (a)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E–V, 	(b) virial P–V. </a:t>
              </a:r>
              <a:r>
                <a:rPr lang="el-GR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ρ₀ · 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K₀ </a:t>
              </a:r>
              <a:r>
                <a:rPr lang="ko-KR" altLang="en-US"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를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추출함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.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endPara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690787-2F2D-73E8-FA45-4A2F74E5F8A5}"/>
                </a:ext>
              </a:extLst>
            </p:cNvPr>
            <p:cNvSpPr txBox="1"/>
            <p:nvPr/>
          </p:nvSpPr>
          <p:spPr>
            <a:xfrm>
              <a:off x="7837371" y="4032548"/>
              <a:ext cx="3887563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 eaLnBrk="0" latinLnBrk="0" hangingPunct="0">
                <a:lnSpc>
                  <a:spcPct val="130000"/>
                </a:lnSpc>
              </a:pP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우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: Bulk modulus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의 밀도에 대한 함수 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K(</a:t>
              </a:r>
              <a:r>
                <a:rPr lang="el-GR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ρ). 	</a:t>
              </a:r>
              <a:endPara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15BFA2A-C4E5-BFFA-93F2-65D5318CC3E5}"/>
              </a:ext>
            </a:extLst>
          </p:cNvPr>
          <p:cNvSpPr txBox="1"/>
          <p:nvPr/>
        </p:nvSpPr>
        <p:spPr>
          <a:xfrm>
            <a:off x="811037" y="4082235"/>
            <a:ext cx="10817699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l-GR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ρ₀ 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평형 밀도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 밀도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l-GR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lang="en-US" altLang="ko-KR" sz="1600" b="0" i="0" baseline="-25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2.20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g/cm</a:t>
            </a:r>
            <a:r>
              <a:rPr lang="en-US" altLang="ko-KR" sz="160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3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대비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 오차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7.8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감소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+6.6%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lang="en-US" altLang="ko-KR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+0.8%</a:t>
            </a:r>
            <a:r>
              <a:rPr lang="en-US" altLang="ko-KR" sz="1600" b="0" i="0" dirty="0">
                <a:latin typeface="Arial"/>
                <a:ea typeface="맑은 고딕"/>
                <a:cs typeface="Arial"/>
              </a:rPr>
              <a:t>)</a:t>
            </a:r>
            <a:endParaRPr lang="ko-KR" altLang="en-US" sz="1600" b="0" i="0" dirty="0"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K₀ (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각자의 </a:t>
            </a:r>
            <a:r>
              <a:rPr lang="el-GR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ρ₀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에서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):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altLang="ko-KR"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600" b="0" i="0" baseline="-25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baseline="-25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 표면상 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가 더 가까움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34.3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/ </a:t>
            </a:r>
            <a:r>
              <a:rPr lang="en-US" altLang="ko-KR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43.2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GPa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결과 해석 주의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latin typeface="Arial"/>
                <a:ea typeface="맑은 고딕"/>
                <a:cs typeface="Arial"/>
              </a:rPr>
              <a:t>두 값은 </a:t>
            </a:r>
            <a:r>
              <a:rPr lang="en-US" altLang="ko-KR" sz="1600" b="0" i="0" dirty="0">
                <a:latin typeface="Arial"/>
                <a:ea typeface="맑은 고딕"/>
                <a:cs typeface="Arial"/>
              </a:rPr>
              <a:t>K(𝜌) </a:t>
            </a:r>
            <a:r>
              <a:rPr lang="ko-KR" altLang="en-US" sz="1600" b="0" i="0" dirty="0">
                <a:latin typeface="Arial"/>
                <a:ea typeface="맑은 고딕"/>
                <a:cs typeface="Arial"/>
              </a:rPr>
              <a:t>곡선 위 다른 지점 </a:t>
            </a:r>
            <a:r>
              <a:rPr lang="en-US" altLang="ko-KR" sz="1600" b="0" i="0" dirty="0">
                <a:latin typeface="Arial"/>
                <a:ea typeface="맑은 고딕"/>
                <a:cs typeface="Arial"/>
              </a:rPr>
              <a:t>—</a:t>
            </a:r>
            <a:r>
              <a:rPr lang="ko-KR" alt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K₀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altLang="ko-KR"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근접은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 오차의 산물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 </a:t>
            </a:r>
          </a:p>
          <a:p>
            <a:pPr marL="475488" lvl="1" indent="-190500" algn="l" eaLnBrk="0" latinLnBrk="0" hangingPunct="0">
              <a:lnSpc>
                <a:spcPct val="130000"/>
              </a:lnSpc>
              <a:spcAft>
                <a:spcPts val="600"/>
              </a:spcAft>
              <a:buFont typeface="Arial" charset="0"/>
              <a:buChar char="–"/>
            </a:pP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K(</a:t>
            </a:r>
            <a:r>
              <a:rPr lang="el-GR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ρ)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우하향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&amp;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과대 밀도가 곡선 아래쪽을 읽게 함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오차 상쇄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475488" lvl="1" indent="-190500" algn="l" eaLnBrk="0" latinLnBrk="0" hangingPunct="0">
              <a:lnSpc>
                <a:spcPct val="130000"/>
              </a:lnSpc>
              <a:spcAft>
                <a:spcPts val="600"/>
              </a:spcAft>
              <a:buFont typeface="Arial" charset="0"/>
              <a:buChar char="–"/>
            </a:pPr>
            <a:r>
              <a:rPr lang="el-GR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lang="en-US" altLang="ko-KR" sz="1600" b="0" i="0" baseline="-25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에서는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둘 다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altLang="ko-KR"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 약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20%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과대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45.3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/ </a:t>
            </a:r>
            <a:r>
              <a:rPr lang="en-US" altLang="ko-KR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43.9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DFT(GGA)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문헌도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40–46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GPa</a:t>
            </a:r>
            <a:r>
              <a:rPr lang="en-US" altLang="ko-KR"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[6]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현 결과는 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포텐셜만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교체한 것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 위상은 동일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lang="ko-KR" altLang="en-US" sz="1600" dirty="0"/>
              <a:t>구조 생성 프로토콜이 </a:t>
            </a:r>
            <a:r>
              <a:rPr lang="en-US" altLang="ko-KR" sz="1600" dirty="0"/>
              <a:t>7net </a:t>
            </a:r>
            <a:r>
              <a:rPr lang="ko-KR" altLang="en-US" sz="1600" dirty="0"/>
              <a:t>오차를 더 줄일지는 검증 필요</a:t>
            </a:r>
            <a:endParaRPr lang="ko-KR" alt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4D6B2-A618-ED44-C20F-A5528D1C5701}"/>
              </a:ext>
            </a:extLst>
          </p:cNvPr>
          <p:cNvSpPr txBox="1"/>
          <p:nvPr/>
        </p:nvSpPr>
        <p:spPr>
          <a:xfrm>
            <a:off x="205495" y="6531838"/>
            <a:ext cx="11024479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[5]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Deschamps et al., Sci. Rep. 4, 7193 (2014)   ·   [6]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Roy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Bongiorno, JPCC 128, 21220 (2024)   ·   [7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] O. V.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Mazurin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Handbook of Glass Data, Part A (1983)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DD4909-CDBE-7727-C3DD-2F86F69092E0}"/>
              </a:ext>
            </a:extLst>
          </p:cNvPr>
          <p:cNvSpPr txBox="1"/>
          <p:nvPr/>
        </p:nvSpPr>
        <p:spPr>
          <a:xfrm>
            <a:off x="8743015" y="490097"/>
            <a:ext cx="3447177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0" latinLnBrk="0" hangingPunct="0">
              <a:lnSpc>
                <a:spcPct val="130000"/>
              </a:lnSpc>
            </a:pP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(exp.: </a:t>
            </a:r>
            <a:r>
              <a:rPr lang="el-GR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</a:t>
            </a: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g/cm³ </a:t>
            </a:r>
            <a:r>
              <a:rPr lang="en-US" altLang="ko-KR" sz="1400" b="0" i="1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[7],</a:t>
            </a: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4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altLang="ko-KR" sz="1400" i="1" baseline="-2500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= 37 </a:t>
            </a:r>
            <a:r>
              <a:rPr lang="en-US" altLang="ko-KR" sz="14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GPa</a:t>
            </a: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400" b="0" i="1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[5]</a:t>
            </a: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4237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비용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classical MD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10³배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(CPU only)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5410" y="1401723"/>
            <a:ext cx="6500342" cy="47182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1,347,000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vs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1,083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atom-step/s </a:t>
            </a:r>
            <a:br>
              <a:rPr lang="en-US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1,244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느림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(5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초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vs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시간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46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느린 이유</a:t>
            </a: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은 원자쌍마다 3층 신경망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텐서곱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classical MD의 해석적 pair 함수 대비 연산량 자릿수 차이</a:t>
            </a:r>
          </a:p>
          <a:p>
            <a:pPr marL="237744" indent="-237744" algn="l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가속의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기준은 AIMD: MLIP O(N) vs </a:t>
            </a:r>
            <a:r>
              <a:rPr 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O(N³) </a:t>
            </a:r>
            <a:b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본 연구에서 AIMD는 미측정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 천장 (본 머신): OMP 1.83배 / 독립 프로세스 1.98배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메모리 대역폭 한계일 수 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원자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×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스텝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벽시계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시간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(atom-step/s).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배수는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의존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cutoff 5.5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2.607에서는 2,462배.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3FEA6F4-7754-8B42-1268-567E6596731E}"/>
              </a:ext>
            </a:extLst>
          </p:cNvPr>
          <p:cNvGrpSpPr/>
          <p:nvPr/>
        </p:nvGrpSpPr>
        <p:grpSpPr>
          <a:xfrm>
            <a:off x="7636498" y="1110344"/>
            <a:ext cx="3605140" cy="5233567"/>
            <a:chOff x="7114623" y="1170535"/>
            <a:chExt cx="3605140" cy="5233567"/>
          </a:xfrm>
        </p:grpSpPr>
        <p:sp>
          <p:nvSpPr>
            <p:cNvPr id="5" name="TextBox 4"/>
            <p:cNvSpPr txBox="1"/>
            <p:nvPr/>
          </p:nvSpPr>
          <p:spPr>
            <a:xfrm>
              <a:off x="7349289" y="6129782"/>
              <a:ext cx="3284623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(a) 처리량   (b) 병렬 확장성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8BA4336-BB60-0C58-78E4-E733C44BE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14623" y="1170535"/>
              <a:ext cx="3605140" cy="49740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Limitations &amp; </a:t>
            </a:r>
            <a:r>
              <a:rPr lang="en-US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N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652" y="1047960"/>
            <a:ext cx="5159564" cy="5276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 Limitations ]</a:t>
            </a:r>
            <a:endParaRPr lang="en-US" sz="1600" b="1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7net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에선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melt-quench · 어닐링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미수행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b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</a:b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망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BKS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것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과 동일 구조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(ring 분포 동일)</a:t>
            </a: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급랭 5×10¹² K/s (실험 대비 ~10¹³배) · 셀 2,160원자</a:t>
            </a:r>
            <a:endParaRPr sz="1600" b="0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측정은 CPU 전용 — </a:t>
            </a:r>
            <a:r>
              <a:rPr lang="en-US" altLang="ko-KR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neural network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텐서곱은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GPU에 유리하나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본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연구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에선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미측정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논문 GPU 벤치</a:t>
            </a:r>
            <a:r>
              <a:rPr lang="en-US" sz="1600" b="0" i="0" baseline="3000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[8]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기준 본 계 규모는 수십 배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가속</a:t>
            </a:r>
            <a: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b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</a:br>
            <a: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추정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(계가 클수록 유리)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eaLnBrk="0" latinLnBrk="0" hangingPunct="0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 </a:t>
            </a:r>
            <a:r>
              <a:rPr lang="en-US" altLang="ko-KR" sz="105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S.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Oh et al., J. Chem. Inf. Model. (2026)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 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·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 </a:t>
            </a:r>
            <a:r>
              <a:rPr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9</a:t>
            </a:r>
            <a:r>
              <a:rPr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 L.C. Erhard et al., npj Comput. Mater. 8, 90 (2022)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F429F-2B87-5090-4FF0-E5EB1D2CBB83}"/>
              </a:ext>
            </a:extLst>
          </p:cNvPr>
          <p:cNvSpPr txBox="1"/>
          <p:nvPr/>
        </p:nvSpPr>
        <p:spPr>
          <a:xfrm>
            <a:off x="6428784" y="1047961"/>
            <a:ext cx="5159564" cy="3107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Next step ]</a:t>
            </a:r>
            <a:r>
              <a:rPr lang="ko-KR" altLang="en-US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lang="en-US" altLang="ko-KR" sz="1600" b="1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+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어닐링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en-US" altLang="ko-KR"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9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현 CPU 기준 20 ps ≈ 11시간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thermal expansion coefficient (α) 추정 · 첨가물에 따른 α 조절 가능성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검증 순서: 결정(α-quartz)에서 α 먼저 </a:t>
            </a:r>
            <a:r>
              <a:rPr lang="en-US" sz="1600" b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검증</a:t>
            </a: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a-SiO₂로 확장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446D2C-2525-4B9E-47FD-979FADB61289}"/>
              </a:ext>
            </a:extLst>
          </p:cNvPr>
          <p:cNvGrpSpPr/>
          <p:nvPr/>
        </p:nvGrpSpPr>
        <p:grpSpPr>
          <a:xfrm>
            <a:off x="6752829" y="4397406"/>
            <a:ext cx="3990109" cy="2023123"/>
            <a:chOff x="7278624" y="3675887"/>
            <a:chExt cx="4828032" cy="244797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279822" y="3675887"/>
              <a:ext cx="4825635" cy="2155371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278624" y="5831258"/>
              <a:ext cx="4828032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열팽창계수 α = V(T) 기울기. 첨가물에 따른 α 조절 (schematic)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094181"/>
              </p:ext>
            </p:extLst>
          </p:nvPr>
        </p:nvGraphicFramePr>
        <p:xfrm>
          <a:off x="445179" y="1078992"/>
          <a:ext cx="11234889" cy="52967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0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4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(720 Si / 1,440 O), ρ = 2.20 g/cm³, cubic PBC, L ≈ 30.4 Å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초기 구조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Materials Project mp-554089 (Pna2₁, 12 atoms/cell) → 6 × 6 × 5 replicate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포텐셜</a:t>
                      </a:r>
                      <a:endParaRPr sz="1200" b="1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Buckingham + Coulomb</a:t>
                      </a:r>
                      <a:r>
                        <a:rPr sz="1200" b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</a:t>
                      </a:r>
                      <a:r>
                        <a:rPr lang="en-US" altLang="ko-KR" sz="1200" b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</a:t>
                      </a:r>
                      <a:r>
                        <a:rPr sz="1200" b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]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q(Si) = +2.4 e / q(O) = −1.2 e,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r_c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PPPM 1×10⁻⁴,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분산항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tail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보정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on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단거리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안전항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endParaRPr sz="1200" b="1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r⁻¹²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core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WCA형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): O–O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1.50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3.0 eV / Si–O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1.10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4.0 eV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고온 계산 수치안정화를 위해 근거리 </a:t>
                      </a:r>
                      <a:r>
                        <a:rPr lang="ko-KR" altLang="en-US"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반발항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추가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채널에서 증류), cutoff 4.5 Å, LAMMPS pair_style e3gnn (TorchScript)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구조 생성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고정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부피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melt-quench: 300→4000 K 50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→ 4000 K 200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→ 4000→300 K (100 K × 20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 → 300 K 100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br>
                        <a:rPr 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</a:b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용융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NPT는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부피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붕괴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2.26 → 2.62 g/cm³를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유발해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NVT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고정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부피로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전환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냉각속도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5 × 10¹² K/s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MD 조건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NVT, Nosé–Hoover thermostat (T_damp = 0.1 ps), timestep 1 fs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MD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300 K NVT, equilibration 2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+ production 3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궤적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20 step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간격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저장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 고정 · 원자만 0 K 이완, 7점. 부피비 f = 0.94–1.06 (7net) / 0.90–1.02 (BKS)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etol = 0, ftol = 1×10⁻³ eV/Å, maxiter/maxeval 150 (etol &gt; 0은 셀 자유도에서 조기 종료)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상태방정식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BM3. E(V) 4-파라미터와 virial P(V) 3-파라미터를 독립 피팅, K₀는 P(V) 경로를 채택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g(r) · 배위수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dr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0.01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r ≤ 8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300 K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시간평균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제1피크는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히스토그램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최댓값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n(Si–O) = 4.001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컷오프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2.0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정합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q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벡터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직접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합산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(r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절단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창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함수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껍질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Δq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2π/L = 0.207 Å⁻¹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+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선형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배경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피팅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∵ 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노이즈에 강건한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최댓값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추출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).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중성자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0.0694 : 0.3880 : 0.5426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stable_2Aug2023_update3 · SevenNet 0.13.0 · PyTorch 2.13.0+cpu · ASE 3.29.0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6c/12t, RAM 15 GB, GPU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7F2089-DB07-E7D9-8918-3DA7CB9CB9B1}"/>
              </a:ext>
            </a:extLst>
          </p:cNvPr>
          <p:cNvSpPr txBox="1"/>
          <p:nvPr/>
        </p:nvSpPr>
        <p:spPr>
          <a:xfrm>
            <a:off x="405423" y="6540702"/>
            <a:ext cx="6713133" cy="2550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[10]  B. W. H. van </a:t>
            </a:r>
            <a:r>
              <a:rPr lang="en-US" altLang="ko-KR" sz="105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Beest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G. J. Kramer, R. A. van Santen, Phys. Rev. Lett. 64, 1955 (1990).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Limitations &amp; </a:t>
            </a:r>
            <a:r>
              <a:rPr lang="en-US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N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652" y="1047960"/>
            <a:ext cx="5159564" cy="5276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 Limitations ]</a:t>
            </a:r>
            <a:endParaRPr lang="en-US" sz="1600" b="1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7net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에선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melt-quench · 어닐링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미수행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b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</a:b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망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BKS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것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과 동일 구조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(ring 분포 동일)</a:t>
            </a: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급랭 5×10¹² K/s (실험 대비 ~10¹³배) · 셀 2,160원자</a:t>
            </a:r>
            <a:endParaRPr sz="1600" b="0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측정은 CPU 전용 — </a:t>
            </a:r>
            <a:r>
              <a:rPr lang="en-US" altLang="ko-KR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neural network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텐서곱은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GPU에 유리하나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본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연구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에선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미측정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논문 GPU 벤치</a:t>
            </a:r>
            <a:r>
              <a:rPr lang="en-US" sz="1600" b="0" i="0" baseline="3000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[8]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기준 본 계 규모는 수십 배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가속</a:t>
            </a:r>
            <a: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b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</a:br>
            <a: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추정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(계가 클수록 유리)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eaLnBrk="0" latinLnBrk="0" hangingPunct="0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 </a:t>
            </a:r>
            <a:r>
              <a:rPr lang="en-US" altLang="ko-KR" sz="105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S.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Oh et al., J. Chem. Inf. Model. (2026)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 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·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 </a:t>
            </a:r>
            <a:r>
              <a:rPr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9</a:t>
            </a:r>
            <a:r>
              <a:rPr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 L.C. Erhard et al., npj Comput. Mater. 8, 90 (2022)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F429F-2B87-5090-4FF0-E5EB1D2CBB83}"/>
              </a:ext>
            </a:extLst>
          </p:cNvPr>
          <p:cNvSpPr txBox="1"/>
          <p:nvPr/>
        </p:nvSpPr>
        <p:spPr>
          <a:xfrm>
            <a:off x="6428784" y="1047961"/>
            <a:ext cx="5159564" cy="3107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Next step ]</a:t>
            </a:r>
            <a:r>
              <a:rPr lang="ko-KR" altLang="en-US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lang="en-US" altLang="ko-KR" sz="1600" b="1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+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어닐링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en-US" altLang="ko-KR"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9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현 CPU 기준 20 ps ≈ 11시간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thermal expansion coefficient (α) 추정 · 첨가물에 따른 α 조절 가능성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검증 순서: 결정(α-quartz)에서 α 먼저 </a:t>
            </a:r>
            <a:r>
              <a:rPr lang="en-US" sz="1600" b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검증</a:t>
            </a: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a-SiO₂로 확장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446D2C-2525-4B9E-47FD-979FADB61289}"/>
              </a:ext>
            </a:extLst>
          </p:cNvPr>
          <p:cNvGrpSpPr/>
          <p:nvPr/>
        </p:nvGrpSpPr>
        <p:grpSpPr>
          <a:xfrm>
            <a:off x="6752829" y="4397406"/>
            <a:ext cx="3990109" cy="2023123"/>
            <a:chOff x="7278624" y="3675887"/>
            <a:chExt cx="4828032" cy="244797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279822" y="3675887"/>
              <a:ext cx="4825635" cy="2155371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278624" y="5831258"/>
              <a:ext cx="4828032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열팽창계수 α = V(T) 기울기. 첨가물에 따른 α 조절 (schematic)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Limitations &amp; </a:t>
            </a:r>
            <a:r>
              <a:rPr lang="en-US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N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652" y="1047960"/>
            <a:ext cx="5159564" cy="5276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 Limitations ]</a:t>
            </a:r>
            <a:endParaRPr lang="en-US" sz="1600" b="1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7net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에선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melt-quench · 어닐링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미수행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b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</a:b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망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BKS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것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과 동일 구조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(ring 분포 동일)</a:t>
            </a: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급랭 5×10¹² K/s (실험 대비 ~10¹³배) · 셀 2,160원자</a:t>
            </a:r>
            <a:endParaRPr sz="1600" b="0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측정은 CPU 전용 — </a:t>
            </a:r>
            <a:r>
              <a:rPr lang="en-US" altLang="ko-KR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neural network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텐서곱은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GPU에 유리하나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본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연구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에선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미측정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논문 GPU 벤치</a:t>
            </a:r>
            <a:r>
              <a:rPr lang="en-US" sz="1600" b="0" i="0" baseline="3000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[8]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기준 본 계 규모는 수십 배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가속</a:t>
            </a:r>
            <a: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b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</a:br>
            <a: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추정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(계가 클수록 유리)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eaLnBrk="0" latinLnBrk="0" hangingPunct="0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 </a:t>
            </a:r>
            <a:r>
              <a:rPr lang="en-US" altLang="ko-KR" sz="105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S.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Oh et al., J. Chem. Inf. Model. (2026)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 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·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 </a:t>
            </a:r>
            <a:r>
              <a:rPr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9</a:t>
            </a:r>
            <a:r>
              <a:rPr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 L.C. Erhard et al., npj Comput. Mater. 8, 90 (2022)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F429F-2B87-5090-4FF0-E5EB1D2CBB83}"/>
              </a:ext>
            </a:extLst>
          </p:cNvPr>
          <p:cNvSpPr txBox="1"/>
          <p:nvPr/>
        </p:nvSpPr>
        <p:spPr>
          <a:xfrm>
            <a:off x="6428784" y="1047961"/>
            <a:ext cx="5159564" cy="3107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Next step ]</a:t>
            </a:r>
            <a:r>
              <a:rPr lang="ko-KR" altLang="en-US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lang="en-US" altLang="ko-KR" sz="1600" b="1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+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어닐링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en-US" altLang="ko-KR"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9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현 CPU 기준 20 ps ≈ 11시간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thermal expansion coefficient (α) 추정 · 첨가물에 따른 α 조절 가능성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검증 순서: 결정(α-quartz)에서 α 먼저 </a:t>
            </a:r>
            <a:r>
              <a:rPr lang="en-US" sz="1600" b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검증</a:t>
            </a: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a-SiO₂로 확장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446D2C-2525-4B9E-47FD-979FADB61289}"/>
              </a:ext>
            </a:extLst>
          </p:cNvPr>
          <p:cNvGrpSpPr/>
          <p:nvPr/>
        </p:nvGrpSpPr>
        <p:grpSpPr>
          <a:xfrm>
            <a:off x="6752829" y="4397406"/>
            <a:ext cx="3990109" cy="2023123"/>
            <a:chOff x="7278624" y="3675887"/>
            <a:chExt cx="4828032" cy="244797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279822" y="3675887"/>
              <a:ext cx="4825635" cy="2155371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278624" y="5831258"/>
              <a:ext cx="4828032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열팽창계수 α = V(T) 기울기. 첨가물에 따른 α 조절 (schematic)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Limitations &amp; </a:t>
            </a:r>
            <a:r>
              <a:rPr lang="en-US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N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652" y="1047960"/>
            <a:ext cx="5159564" cy="5276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 Limitations ]</a:t>
            </a:r>
            <a:endParaRPr lang="en-US" sz="1600" b="1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7net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에선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melt-quench · 어닐링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미수행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b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</a:b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망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BKS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것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과 동일 구조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(ring 분포 동일)</a:t>
            </a: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급랭 5×10¹² K/s (실험 대비 ~10¹³배) · 셀 2,160원자</a:t>
            </a:r>
            <a:endParaRPr sz="1600" b="0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측정은 CPU 전용 — </a:t>
            </a:r>
            <a:r>
              <a:rPr lang="en-US" altLang="ko-KR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neural network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텐서곱은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GPU에 유리하나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본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연구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에선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미측정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논문 GPU 벤치</a:t>
            </a:r>
            <a:r>
              <a:rPr lang="en-US" sz="1600" b="0" i="0" baseline="3000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[8]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기준 본 계 규모는 수십 배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가속</a:t>
            </a:r>
            <a: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b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</a:br>
            <a: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추정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(계가 클수록 유리)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eaLnBrk="0" latinLnBrk="0" hangingPunct="0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 </a:t>
            </a:r>
            <a:r>
              <a:rPr lang="en-US" altLang="ko-KR" sz="105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S.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Oh et al., J. Chem. Inf. Model. (2026)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 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·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 </a:t>
            </a:r>
            <a:r>
              <a:rPr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9</a:t>
            </a:r>
            <a:r>
              <a:rPr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 L.C. Erhard et al., npj Comput. Mater. 8, 90 (2022)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F429F-2B87-5090-4FF0-E5EB1D2CBB83}"/>
              </a:ext>
            </a:extLst>
          </p:cNvPr>
          <p:cNvSpPr txBox="1"/>
          <p:nvPr/>
        </p:nvSpPr>
        <p:spPr>
          <a:xfrm>
            <a:off x="6428784" y="1047961"/>
            <a:ext cx="5159564" cy="3107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Next step ]</a:t>
            </a:r>
            <a:r>
              <a:rPr lang="ko-KR" altLang="en-US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lang="en-US" altLang="ko-KR" sz="1600" b="1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+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어닐링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en-US" altLang="ko-KR"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9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현 CPU 기준 20 ps ≈ 11시간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thermal expansion coefficient (α) 추정 · 첨가물에 따른 α 조절 가능성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검증 순서: 결정(α-quartz)에서 α 먼저 </a:t>
            </a:r>
            <a:r>
              <a:rPr lang="en-US" sz="1600" b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검증</a:t>
            </a: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a-SiO₂로 확장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446D2C-2525-4B9E-47FD-979FADB61289}"/>
              </a:ext>
            </a:extLst>
          </p:cNvPr>
          <p:cNvGrpSpPr/>
          <p:nvPr/>
        </p:nvGrpSpPr>
        <p:grpSpPr>
          <a:xfrm>
            <a:off x="6752829" y="4397406"/>
            <a:ext cx="3990109" cy="2023123"/>
            <a:chOff x="7278624" y="3675887"/>
            <a:chExt cx="4828032" cy="244797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279822" y="3675887"/>
              <a:ext cx="4825635" cy="2155371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278624" y="5831258"/>
              <a:ext cx="4828032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열팽창계수 α = V(T) 기울기. 첨가물에 따른 α 조절 (schematic)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비용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classical MD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10³배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(CPU only)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5410" y="1401723"/>
            <a:ext cx="6500342" cy="47182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1,347,000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vs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1,083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atom-step/s </a:t>
            </a:r>
            <a:br>
              <a:rPr lang="en-US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1,244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느림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(5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초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vs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시간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46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느린 이유</a:t>
            </a: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은 원자쌍마다 3층 신경망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텐서곱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classical MD의 해석적 pair 함수 대비 연산량 자릿수 차이</a:t>
            </a:r>
          </a:p>
          <a:p>
            <a:pPr marL="237744" indent="-237744" algn="l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가속의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기준은 AIMD: MLIP O(N) vs </a:t>
            </a:r>
            <a:r>
              <a:rPr 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O(N³) </a:t>
            </a:r>
            <a:b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본 연구에서 AIMD는 미측정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 천장 (본 머신): OMP 1.83배 / 독립 프로세스 1.98배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메모리 대역폭 한계일 수 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원자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×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스텝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벽시계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시간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(atom-step/s).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배수는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의존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cutoff 5.5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2.607에서는 2,462배.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3FEA6F4-7754-8B42-1268-567E6596731E}"/>
              </a:ext>
            </a:extLst>
          </p:cNvPr>
          <p:cNvGrpSpPr/>
          <p:nvPr/>
        </p:nvGrpSpPr>
        <p:grpSpPr>
          <a:xfrm>
            <a:off x="7636498" y="1110344"/>
            <a:ext cx="3605140" cy="5233567"/>
            <a:chOff x="7114623" y="1170535"/>
            <a:chExt cx="3605140" cy="5233567"/>
          </a:xfrm>
        </p:grpSpPr>
        <p:sp>
          <p:nvSpPr>
            <p:cNvPr id="5" name="TextBox 4"/>
            <p:cNvSpPr txBox="1"/>
            <p:nvPr/>
          </p:nvSpPr>
          <p:spPr>
            <a:xfrm>
              <a:off x="7349289" y="6129782"/>
              <a:ext cx="3284623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(a) 처리량   (b) 병렬 확장성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8BA4336-BB60-0C58-78E4-E733C44BE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14623" y="1170535"/>
              <a:ext cx="3605140" cy="49740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비용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classical MD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10³배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(CPU only)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5410" y="1401723"/>
            <a:ext cx="6500342" cy="47182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1,347,000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vs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1,083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atom-step/s </a:t>
            </a:r>
            <a:br>
              <a:rPr lang="en-US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1,244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느림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(5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초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vs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시간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46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느린 이유</a:t>
            </a: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은 원자쌍마다 3층 신경망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텐서곱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classical MD의 해석적 pair 함수 대비 연산량 자릿수 차이</a:t>
            </a:r>
          </a:p>
          <a:p>
            <a:pPr marL="237744" indent="-237744" algn="l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가속의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기준은 AIMD: MLIP O(N) vs </a:t>
            </a:r>
            <a:r>
              <a:rPr 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O(N³) </a:t>
            </a:r>
            <a:b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본 연구에서 AIMD는 미측정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 천장 (본 머신): OMP 1.83배 / 독립 프로세스 1.98배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메모리 대역폭 한계일 수 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원자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×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스텝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벽시계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시간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(atom-step/s).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배수는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의존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cutoff 5.5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2.607에서는 2,462배.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3FEA6F4-7754-8B42-1268-567E6596731E}"/>
              </a:ext>
            </a:extLst>
          </p:cNvPr>
          <p:cNvGrpSpPr/>
          <p:nvPr/>
        </p:nvGrpSpPr>
        <p:grpSpPr>
          <a:xfrm>
            <a:off x="7636498" y="1110344"/>
            <a:ext cx="3605140" cy="5233567"/>
            <a:chOff x="7114623" y="1170535"/>
            <a:chExt cx="3605140" cy="5233567"/>
          </a:xfrm>
        </p:grpSpPr>
        <p:sp>
          <p:nvSpPr>
            <p:cNvPr id="5" name="TextBox 4"/>
            <p:cNvSpPr txBox="1"/>
            <p:nvPr/>
          </p:nvSpPr>
          <p:spPr>
            <a:xfrm>
              <a:off x="7349289" y="6129782"/>
              <a:ext cx="3284623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(a) 처리량   (b) 병렬 확장성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8BA4336-BB60-0C58-78E4-E733C44BE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14623" y="1170535"/>
              <a:ext cx="3605140" cy="49740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</TotalTime>
  <Words>1858</Words>
  <Application>Microsoft Macintosh PowerPoint</Application>
  <PresentationFormat>와이드스크린</PresentationFormat>
  <Paragraphs>144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Courier New</vt:lpstr>
      <vt:lpstr>Wingdings</vt:lpstr>
      <vt:lpstr>phy_present_wide_light</vt:lpstr>
      <vt:lpstr>Universal MLIP의 a-SiO₂ 적용 SevenNet-Nano 파일럿 스터디</vt:lpstr>
      <vt:lpstr>실공간 구조 — 결합길이 · 결합각</vt:lpstr>
      <vt:lpstr>Structure factor S(q) 비교와 망 위상 (ρ = 2.20 g/cm³)</vt:lpstr>
      <vt:lpstr>밀도 · 부피탄성률 — 비교 조건의 영향</vt:lpstr>
      <vt:lpstr>계산 비용 — classical MD 대비 ~10³배 (CPU only)</vt:lpstr>
      <vt:lpstr>Limitations &amp; Next step</vt:lpstr>
      <vt:lpstr>Appendix. Computational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229</cp:revision>
  <dcterms:created xsi:type="dcterms:W3CDTF">2026-08-14T09:14:06Z</dcterms:created>
  <dcterms:modified xsi:type="dcterms:W3CDTF">2026-08-26T15:20:03Z</dcterms:modified>
</cp:coreProperties>
</file>